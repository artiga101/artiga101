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E98925-5E13-4D41-A452-524F65A59A4D}">
  <a:tblStyle styleId="{A3E98925-5E13-4D41-A452-524F65A59A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80300" y="694048"/>
            <a:ext cx="116016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b="1" lang="en-US" sz="5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iagrama de actividades, </a:t>
            </a:r>
            <a:r>
              <a:rPr b="1" lang="en-US" sz="5400">
                <a:solidFill>
                  <a:srgbClr val="D9FF66"/>
                </a:solidFill>
                <a:latin typeface="Urbanist"/>
                <a:ea typeface="Urbanist"/>
                <a:cs typeface="Urbanist"/>
                <a:sym typeface="Urbanist"/>
              </a:rPr>
              <a:t> forks, joins</a:t>
            </a:r>
            <a:r>
              <a:rPr b="1" lang="en-US" sz="5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b="1" lang="en-US" sz="5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decisiones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3570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Dominando el flujo de control y la lógica de procesos complejos mediante el uso estratégico de Decisiones, Forks y Joins.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5275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9FA"/>
                </a:solidFill>
                <a:latin typeface="Urbanist"/>
                <a:ea typeface="Urbanist"/>
                <a:cs typeface="Urbanist"/>
                <a:sym typeface="Urbanist"/>
              </a:rPr>
              <a:t>Fundamentos del Modelado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1590675"/>
            <a:ext cx="952500" cy="57150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19335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Entendiendo el comportamiento dinámico del sistema.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8900"/>
            <a:ext cx="533400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8900"/>
            <a:ext cx="53340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0194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Propósito Principal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486150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Visualizar el flujo de trabajo entre acciones en un sistema. Es la herramienta definitiva para modelar algoritmos, procesos de negocio y lógica de software multitarea.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77025" y="30194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Elementos Esenciales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77025" y="3486150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 compone de nodos de actividad (acciones), flujos de control y nodos de control que dictan la ruta del proceso basándose en lógica booleana o concurrencia.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 CORAZÓN DEL MODELADO DINÁMICO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26193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Lógica Mutuamente Excluyente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30861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nodo de decisión (rombo) selecciona un único camino de salida basándose en una condición de guarda entre corchetes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[condición]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41910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 fundamental que las guardas sean exhaustivas y excluyentes para evitar bloqueos lógicos o ambigüedad en el flujo.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NODOS DE DECISIÓN Y GUARDAS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27717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Ejecución Concurrente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32385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nodo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Fork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divide un flujo de control único en múltiples hilos de ejecución paralelos. En UML, esto se representa con una barra gruesa.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71500" y="43434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requiere condiciones; una vez que el flujo llega a la barra, todos los caminos de salida se activan simultáneamente.</a:t>
            </a:r>
            <a:endParaRPr/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PARALELISMO CON EL NODO FORK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71500" y="27717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Punto de Encuentro Crítico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32385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nodo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Join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sincroniza múltiples hilos paralelos. El flujo de salida solo se activa cuando todos los hilos de entrada han finalizado.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71500" y="43434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 la contraparte obligatoria del Fork para consolidar el proceso antes de proceder a la siguiente fase secuencial.</a:t>
            </a:r>
            <a:endParaRPr/>
          </a:p>
        </p:txBody>
      </p:sp>
      <p:pic>
        <p:nvPicPr>
          <p:cNvPr descr="image.png"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SINCRONIZACIÓN CON EL NODO JOIN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19"/>
          <p:cNvGraphicFramePr/>
          <p:nvPr/>
        </p:nvGraphicFramePr>
        <p:xfrm>
          <a:off x="571500" y="2438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{A3E98925-5E13-4D41-A452-524F65A59A4D}</a:tableStyleId>
              </a:tblPr>
              <a:tblGrid>
                <a:gridCol w="2283775"/>
                <a:gridCol w="2781300"/>
                <a:gridCol w="2959900"/>
                <a:gridCol w="3024050"/>
              </a:tblGrid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5122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Característica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5122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Decisión (Rombo)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5122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Fork (Barra)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5122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Join (Barra)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F66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Entradas/Salidas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 Entrada / N Salidas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 Entrada / N Salidas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 Entradas / 1 Salida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Naturaleza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Excluyente (Solo 1 ruta)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Paralela (Todas las rutas)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Sincronización (Espera)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Condiciones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Requiere Guardas [ 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 condiciones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Condición implícita (AND)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Error Común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Guardas superpuestas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Flujos sin salida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9F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Deadlock (Bloqueo)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19"/>
          <p:cNvSpPr/>
          <p:nvPr/>
        </p:nvSpPr>
        <p:spPr>
          <a:xfrm>
            <a:off x="571500" y="3662362"/>
            <a:ext cx="22837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855267" y="3662362"/>
            <a:ext cx="2781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636567" y="3662362"/>
            <a:ext cx="2959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8596461" y="3662362"/>
            <a:ext cx="30240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71500" y="4262437"/>
            <a:ext cx="22837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855267" y="4262437"/>
            <a:ext cx="2781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636567" y="4262437"/>
            <a:ext cx="2959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8596461" y="4262437"/>
            <a:ext cx="30240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71500" y="4862512"/>
            <a:ext cx="22837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2855267" y="4862512"/>
            <a:ext cx="2781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636567" y="4862512"/>
            <a:ext cx="2959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596461" y="4862512"/>
            <a:ext cx="30240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71500" y="5462587"/>
            <a:ext cx="22837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855267" y="5462587"/>
            <a:ext cx="2781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636567" y="5462587"/>
            <a:ext cx="2959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8596461" y="5462587"/>
            <a:ext cx="30240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TÉCNICO COMPARATIVO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4600"/>
            <a:ext cx="35242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14600"/>
            <a:ext cx="35242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514600"/>
            <a:ext cx="352425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83431" y="3543300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Semántica del Token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57250" y="4010025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Entender que un "token" fluye por las líneas. El Fork clona tokens, el Join los fusiona.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545806" y="3543300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Guardas Sólidas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619625" y="4010025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Asegurar que siempre haya una ruta activa, preferiblemente usando la rama [else].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308181" y="3543300"/>
            <a:ext cx="31003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Evitar Deadlocks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382000" y="4010025"/>
            <a:ext cx="2952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esperar en un Join un flujo que podría no ejecutarse debido a una decisión previa.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3600" y="28384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8384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6925" y="283845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REGLAS DE ORO DEL MODELADO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51387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uso de diagramas de actividad mejora drásticamente la comunicación entre stakeholders y desarrolladores.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IMPACTO EN EL DISEÑO DEL SOFTWARE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762000" y="1743075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PROCESO DE COMPRA REAL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1743075"/>
            <a:ext cx="47625" cy="971550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3095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 un sistema de E-commerce moderno: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5909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Decisión: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¿Stock disponible? [Si/No]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38957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Fork: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 procesa el pago y simultáneamente se reserva en almacén.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45053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Join: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 espera confirmación de ambos antes de enviar el correo al cliente.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952500" y="2624137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Claridad sobre Complejidad: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Los nodos de control permiten simplificar procesos que de otro modo serían imposibles de documentar.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952500" y="34718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Sincronización Vital: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Join garantiza la integridad de los datos en sistemas distribuidos o multihilo.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952500" y="401478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Eficiencia Operativa: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 identificar flujos paralelos con el Fork, podemos optimizar el tiempo de respuesta del sistema.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52500" y="455771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Documentación Estándar: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UML es el lenguaje universal; dominar sus nodos asegura una comunicación técnica sin fronteras.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RESUMEN ESTRATÉGICO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41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71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5771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295275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9FA"/>
                </a:solidFill>
                <a:latin typeface="Urbanist"/>
                <a:ea typeface="Urbanist"/>
                <a:cs typeface="Urbanist"/>
                <a:sym typeface="Urbanist"/>
              </a:rPr>
              <a:t>Preguntas y Respuestas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5619750" y="1590675"/>
            <a:ext cx="952500" cy="57150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2619375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FF66"/>
                </a:solidFill>
                <a:latin typeface="Urbanist"/>
                <a:ea typeface="Urbanist"/>
                <a:cs typeface="Urbanist"/>
                <a:sym typeface="Urbanist"/>
              </a:rPr>
              <a:t>No pregunten porfa</a:t>
            </a:r>
            <a:r>
              <a:rPr b="1" lang="en-US" sz="2100">
                <a:solidFill>
                  <a:srgbClr val="D9FF66"/>
                </a:solidFill>
                <a:latin typeface="Urbanist"/>
                <a:ea typeface="Urbanist"/>
                <a:cs typeface="Urbanist"/>
                <a:sym typeface="Urbanist"/>
              </a:rPr>
              <a:t>🙏🏻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22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/>
          <p:nvPr/>
        </p:nvSpPr>
        <p:spPr>
          <a:xfrm>
            <a:off x="571500" y="219848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298325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376803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29737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29737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37585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37585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47413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47413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1666875" y="234136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https://www.mdpi.com/software/software-04-00004/article_deploy/html/images/software-04-00004-g001-550.jpg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666875" y="258707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pic>
        <p:nvPicPr>
          <p:cNvPr descr="image.png" id="248" name="Google Shape;24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326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666875" y="312613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https://img.dokumen.pub/img/fundamentals-of-logic-design.jpg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1666875" y="337185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dokumen.pub</a:t>
            </a:r>
            <a:endParaRPr/>
          </a:p>
        </p:txBody>
      </p:sp>
      <p:pic>
        <p:nvPicPr>
          <p:cNvPr descr="image.png" id="251" name="Google Shape;2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65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66875" y="391090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https://static.vecteezy.com/system/resources/previews/065/614/521/non_2x/multidisciplinary-team-soft-blue-concept-icon-brainstorm-teamwork-creative-thinking-round-shape-line-illustration-abstract-idea-graphic-design-easy-to-use-in-infographic-presentation-vector.jpg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43547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54" name="Google Shape;25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003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48937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https://www.mdpi.com/data/data-10-00097/article_deploy/html/images/data-10-00097-g001-550.jpg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513948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D9FF6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D9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
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728043"/>
            <a:ext cx="9001125" cy="2346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Diseño de Sistemas Informáticos </a:t>
            </a: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 UML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836765"/>
            <a:ext cx="8572500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 guía completa de modelado, análisis y arquitectura de software utilizando el Lenguaje Unificado de Modelado.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1809750" y="455101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4817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¿Por qué diseñar antes de codificar?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45774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diseño de sistemas es el proceso de definir la arquitectura, componentes, módulos, interfaces y datos de un sistema para satisfacer requisitos específicos.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842021"/>
            <a:ext cx="5219700" cy="23263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04875" y="352454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Reduce la complejidad mediante la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abstracción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05020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Mejora la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comunicación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entre stakeholders.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57586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Facilita el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mantenimiento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la escalabilidad.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510153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 detectar errores en etapas tempranas (menos costoso).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Fundamentos del Diseño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59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92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49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058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97584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Unified Modeling Language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38541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UML no es una metodología, es un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lenguaje estándar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visualizar, especificar, construir y documentar los artefactos de un sistema de software.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7237" y="2941290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772275" y="4560540"/>
            <a:ext cx="4457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UML 2.5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04875" y="345221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Estandarizado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por la OMG (Object Management Group).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431303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Independiente del lenguaje de programación (Java, C#, Python...).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517386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 una notación gráfica común para todos los ingenieros.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Introducción a UML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7126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3208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9291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1350" y="2989064"/>
            <a:ext cx="1914525" cy="20323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6375" y="2989064"/>
            <a:ext cx="1914525" cy="20323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1383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Dos Grandes Categorías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5479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UML 2.x divide los diagramas en dos grupos principales que responden a preguntas diferentes sobre el sistema.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443287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Estructurales (Estáticos)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805237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Muestran la organización del sistema, la arquitectura y los datos. "Lo que el sistema ES". Ej: Clases, Componentes, Despliegue.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4818608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Comportamiento (Dinámicos)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180558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Muestran la ejecución, flujo y cambios de estado. "Lo que el sistema HACE". Ej: Casos de Uso, Secuencia, Actividades.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233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37658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181850" y="3217664"/>
            <a:ext cx="1533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286875" y="3217664"/>
            <a:ext cx="1533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Comportamiento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705725" y="3560564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Clases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705725" y="3851969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Objetos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705725" y="4143375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Componentes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705725" y="4434780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Despliegue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810750" y="3560564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Casos de Uso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810750" y="3851969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Secuencia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810750" y="4143375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Actividades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810750" y="4434780"/>
            <a:ext cx="1009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Estados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Clasificación de Diagramas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357961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38710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41624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2350" y="445383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7375" y="357961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7375" y="38710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7375" y="41624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77375" y="445383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204817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Requerimientos Funcionales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245774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Describen qué hace el sistema desde el punto de vista del usuario, sin entrar en detalles técnicos de implementación.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905000"/>
            <a:ext cx="5143500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904875" y="352454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Actor: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Entidad externa (Usuario, otro sistema).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04875" y="405020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Caso de Uso: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Funcionalidad específica (el óvalo).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04875" y="457586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Relaciones: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Include (obligatorio), Extend (opcional).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04875" y="543669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Definir el alcance del sistema.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Casos de Uso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59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92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49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55741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98998"/>
            <a:ext cx="5219700" cy="261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6381750" y="180826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 columna vertebral del diseño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381750" y="2217836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 el diagrama más utilizado. Modela la estructura estática del sistema y sirve de base para la generación de código.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715125" y="328463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Rectángulo con Nombre, Atributos y Métodos.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715125" y="414545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Visibilidad: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+ Público, - Privado, # Protegido.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15125" y="4671119"/>
            <a:ext cx="4905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Relaciones: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⎯⎯ Herencia (Generalización)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◆⎯ Composición (Todo-Parte fuerte)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◇⎯ Agregación (Todo-Parte débil)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Clases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0368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16450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90169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171301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Interacción paso a paso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2122586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Muestra cómo los objetos interactúan entre sí en un orden temporal específico para completar un caso de uso.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35249"/>
            <a:ext cx="5219700" cy="353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904875" y="318938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Línea de vida (Lifeline):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Representa la existencia del objeto.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904875" y="405020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Mensajes: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Síncronos (línea sólida) y Asíncronos (línea abierta).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904875" y="491103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Fragmentos combinados: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Bucles (loop), Alternativas (alt/opt).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904875" y="577185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para modelar lógica compleja de protocolos.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560486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Secuencia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1312961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0843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92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3008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9090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7362" y="3910012"/>
            <a:ext cx="28670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381750" y="196066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Máquinas de Estado Finitos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381750" y="237023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Modelan el comportamiento de un objeto individual a lo largo de su vida, reaccionando a eventos.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715125" y="313223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Condición o situación en la vida de un objeto (ej: Pendiente, Aprobado, Cancelado).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715125" y="399305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Transición: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Cambio de un estado a otro disparado por un evento.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715125" y="4853880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Esencial para: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Sistemas reactivos, protocolos de comunicación, ciclos de vida de documentos o pedidos.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Estados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5128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1210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7293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3187536"/>
            <a:ext cx="5238749" cy="22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71500" y="203299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Flujos de Trabajo (Workflows)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71500" y="244256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Similares a los diagramas de flujo clásicos, pero con soporte para concurrencia (procesamiento paralelo).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468" y="1871662"/>
            <a:ext cx="3935164" cy="426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904875" y="320456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Nodo de Acción: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Tarea a realizar.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904875" y="373022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Nodo de Decisión: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Rombo para bifurcaciones (if/else).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04875" y="459105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Barra de División/Unión (Fork/Join):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iniciar y sincronizar hilos paralelos.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904875" y="545187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Útil para modelar reglas de negocio o algoritmos.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Actividades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2361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4927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101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70921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88728"/>
            <a:ext cx="5219700" cy="263291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6381750" y="197584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Arquitectura de Software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6381750" y="238541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Muestra cómo el sistema está dividido en módulos físicos de software (archivos, librerías, ejecutables) y sus dependencias.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6715125" y="3452217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Componente: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Unidad modular con interfaces bien definidas (ej: "AuthenticationService.jar").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715125" y="4313039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Interfaz: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Contrato que define qué servicios ofrece o requiere el componente ("Lollipop" y "Socket").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715125" y="550902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Ayuda a visualizar la estructura de alto nivel.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Diagramas de Componentes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7126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3208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528071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571500" y="186541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Topología Física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571500" y="2274986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Modela el hardware (Nodos) y cómo los artefactos de software se distribuyen en ellos.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599729"/>
            <a:ext cx="5219700" cy="281091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904875" y="303698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Recurso de hardware (Servidor, PC, Móvil) o entorno de ejecución (Docker Container).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904875" y="389780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Artefacto: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Manifestación física del software (base de datos, archivo .exe).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904875" y="475863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Protocolos: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Comunicación entre nodos (HTTP, TCP/IP, JDBC).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904875" y="561945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Crítico para ingenieros de sistemas y DevOps.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Diagramas de Despliegue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5603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68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7768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638502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4261"/>
            <a:ext cx="5238750" cy="16076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222402"/>
            <a:ext cx="5238750" cy="13638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 txBox="1"/>
          <p:nvPr/>
        </p:nvSpPr>
        <p:spPr>
          <a:xfrm>
            <a:off x="571500" y="204817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Soluciones Reutilizables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571500" y="245774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UML es la herramienta estándar para representar patrones de diseño (GoF). Visualizar patrones ayuda a entender soluciones complejas rápidamente.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904875" y="352454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Singleton: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Clase con una sola instancia.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904875" y="405020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Factory: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Interfaz para crear objetos.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04875" y="4575869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Observer: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Suscripción a eventos de cambio de estado.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904875" y="543669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MVC: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Separación Modelo-Vista-Controlador.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677025" y="2719536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Ejemplo Visual: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6677025" y="3005286"/>
            <a:ext cx="46482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 diagrama de clases para el patrón </a:t>
            </a: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Observer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muestra claramente la relación "1 a muchos" entre el Sujeto y los Observadores, algo difícil de ver solo en código.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6677025" y="4517677"/>
            <a:ext cx="752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Beneficio: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677025" y="4803427"/>
            <a:ext cx="4648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Facilita la identificación de "malos olores" (code smells) y oportunidades de refactorización.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Patrones de Diseño &amp; UML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59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92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9491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55741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
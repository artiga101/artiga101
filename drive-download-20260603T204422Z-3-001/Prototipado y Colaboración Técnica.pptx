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Merriweather"/>
      <p:regular r:id="rId20"/>
      <p:bold r:id="rId21"/>
      <p:italic r:id="rId22"/>
      <p:boldItalic r:id="rId23"/>
    </p:embeddedFont>
    <p:embeddedFont>
      <p:font typeface="DM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88986BA-44AA-476F-8C22-8E236AFA7C36}">
  <a:tblStyle styleId="{688986BA-44AA-476F-8C22-8E236AFA7C3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regular.fntdata"/><Relationship Id="rId22" Type="http://schemas.openxmlformats.org/officeDocument/2006/relationships/font" Target="fonts/Merriweather-italic.fntdata"/><Relationship Id="rId21" Type="http://schemas.openxmlformats.org/officeDocument/2006/relationships/font" Target="fonts/Merriweather-bold.fntdata"/><Relationship Id="rId24" Type="http://schemas.openxmlformats.org/officeDocument/2006/relationships/font" Target="fonts/DMSans-regular.fntdata"/><Relationship Id="rId23" Type="http://schemas.openxmlformats.org/officeDocument/2006/relationships/font" Target="fonts/Merriweather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DMSans-italic.fntdata"/><Relationship Id="rId25" Type="http://schemas.openxmlformats.org/officeDocument/2006/relationships/font" Target="fonts/DMSans-bold.fntdata"/><Relationship Id="rId27" Type="http://schemas.openxmlformats.org/officeDocument/2006/relationships/font" Target="fonts/DMSa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5.png"/><Relationship Id="rId7" Type="http://schemas.openxmlformats.org/officeDocument/2006/relationships/image" Target="../media/image10.png"/><Relationship Id="rId8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image" Target="../media/image9.png"/><Relationship Id="rId7" Type="http://schemas.openxmlformats.org/officeDocument/2006/relationships/image" Target="../media/image13.png"/><Relationship Id="rId8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2.png"/><Relationship Id="rId5" Type="http://schemas.openxmlformats.org/officeDocument/2006/relationships/image" Target="../media/image17.png"/><Relationship Id="rId6" Type="http://schemas.openxmlformats.org/officeDocument/2006/relationships/image" Target="../media/image21.png"/><Relationship Id="rId7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595437" y="2560439"/>
            <a:ext cx="9001125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1F3F"/>
                </a:solidFill>
                <a:latin typeface="Merriweather"/>
                <a:ea typeface="Merriweather"/>
                <a:cs typeface="Merriweather"/>
                <a:sym typeface="Merriweather"/>
              </a:rPr>
              <a:t>Wireframes vs Mockups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3505200"/>
            <a:ext cx="857250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718096"/>
                </a:solidFill>
                <a:latin typeface="DM Sans"/>
                <a:ea typeface="DM Sans"/>
                <a:cs typeface="DM Sans"/>
                <a:sym typeface="DM Sans"/>
              </a:rPr>
              <a:t>Estrategias de prototipado y flujo colaborativo con GitHub para equipos modernos.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2510551" y="2873722"/>
            <a:ext cx="7170896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1F3F"/>
                </a:solidFill>
                <a:latin typeface="Merriweather"/>
                <a:ea typeface="Merriweather"/>
                <a:cs typeface="Merriweather"/>
                <a:sym typeface="Merriweather"/>
              </a:rPr>
              <a:t>I. Fundamentos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2681287" y="3588097"/>
            <a:ext cx="68294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718096"/>
                </a:solidFill>
                <a:latin typeface="DM Sans"/>
                <a:ea typeface="DM Sans"/>
                <a:cs typeface="DM Sans"/>
                <a:sym typeface="DM Sans"/>
              </a:rPr>
              <a:t>Entendiendo la diferencia entre estructura y estética visual.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52712"/>
            <a:ext cx="5381625" cy="2457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652712"/>
            <a:ext cx="5381625" cy="2457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847010" y="3043237"/>
            <a:ext cx="483060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ECC71"/>
                </a:solidFill>
                <a:latin typeface="Merriweather"/>
                <a:ea typeface="Merriweather"/>
                <a:cs typeface="Merriweather"/>
                <a:sym typeface="Merriweather"/>
              </a:rPr>
              <a:t>Baja Fidelidad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962025" y="3614737"/>
            <a:ext cx="46005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Representaciones esquemáticas en blanco y negro que omiten distracciones visuales para centrarse en la experiencia del usuario (UX).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6514385" y="3043237"/>
            <a:ext cx="483060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ECC71"/>
                </a:solidFill>
                <a:latin typeface="Merriweather"/>
                <a:ea typeface="Merriweather"/>
                <a:cs typeface="Merriweather"/>
                <a:sym typeface="Merriweather"/>
              </a:rPr>
              <a:t>Estructura y Flujo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6629400" y="3614737"/>
            <a:ext cx="46005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Define la jerarquía de la información, la ubicación de los elementos y la navegación básica entre pantallas.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1F3F"/>
                </a:solidFill>
                <a:latin typeface="Merriweather"/>
                <a:ea typeface="Merriweather"/>
                <a:cs typeface="Merriweather"/>
                <a:sym typeface="Merriweather"/>
              </a:rPr>
              <a:t>Wireframes: El Esqueleto</a:t>
            </a:r>
            <a:endParaRPr/>
          </a:p>
        </p:txBody>
      </p:sp>
      <p:sp>
        <p:nvSpPr>
          <p:cNvPr id="106" name="Google Shape;106;p15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7643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 txBox="1"/>
          <p:nvPr/>
        </p:nvSpPr>
        <p:spPr>
          <a:xfrm>
            <a:off x="571500" y="2643187"/>
            <a:ext cx="550068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ECC71"/>
                </a:solidFill>
                <a:latin typeface="Merriweather"/>
                <a:ea typeface="Merriweather"/>
                <a:cs typeface="Merriweather"/>
                <a:sym typeface="Merriweather"/>
              </a:rPr>
              <a:t>Fidelidad Visual</a:t>
            </a: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571500" y="3214687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Los mockups añaden la capa estética: colores, tipografía, imágenes y estilos de marca definitivos.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571500" y="4014787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A diferencia de los prototipos, suelen ser estáticos y sirven para validar el impacto visual y la coherencia del diseño (UI) con los stakeholders.</a:t>
            </a:r>
            <a:endParaRPr/>
          </a:p>
        </p:txBody>
      </p:sp>
      <p:pic>
        <p:nvPicPr>
          <p:cNvPr descr="image.png" id="116" name="Google Shape;11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97643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1F3F"/>
                </a:solidFill>
                <a:latin typeface="Merriweather"/>
                <a:ea typeface="Merriweather"/>
                <a:cs typeface="Merriweather"/>
                <a:sym typeface="Merriweather"/>
              </a:rPr>
              <a:t>Mockups: La Piel del Diseño</a:t>
            </a:r>
            <a:endParaRPr/>
          </a:p>
        </p:txBody>
      </p:sp>
      <p:sp>
        <p:nvSpPr>
          <p:cNvPr id="118" name="Google Shape;118;p16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3" name="Google Shape;12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7"/>
          <p:cNvSpPr/>
          <p:nvPr/>
        </p:nvSpPr>
        <p:spPr>
          <a:xfrm>
            <a:off x="571500" y="2152650"/>
            <a:ext cx="11049000" cy="345757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5" name="Google Shape;125;p17"/>
          <p:cNvGraphicFramePr/>
          <p:nvPr/>
        </p:nvGraphicFramePr>
        <p:xfrm>
          <a:off x="571500" y="21526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{688986BA-44AA-476F-8C22-8E236AFA7C36}</a:tableStyleId>
              </a:tblPr>
              <a:tblGrid>
                <a:gridCol w="2805550"/>
                <a:gridCol w="4121650"/>
                <a:gridCol w="4121800"/>
              </a:tblGrid>
              <a:tr h="691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Característica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Wireframe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Mockup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F3F"/>
                    </a:solidFill>
                  </a:tcPr>
                </a:tc>
              </a:tr>
              <a:tr h="691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A556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Propósito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A556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Estructura y Funcionalidad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A556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Identidad Visual y Estética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1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A556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Fidelidad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A556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Baja (Esquemas)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A556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Alta (Diseño Final)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  <a:tr h="691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A556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Interactividad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A556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Nula / Muy Básica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A556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Nula (Estático)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1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A556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Coste y Tiempo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A556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Bajo / Rápido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A556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Medio / Laborioso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126" name="Google Shape;126;p17"/>
          <p:cNvSpPr/>
          <p:nvPr/>
        </p:nvSpPr>
        <p:spPr>
          <a:xfrm>
            <a:off x="571500" y="3519487"/>
            <a:ext cx="2805558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3377058" y="3519487"/>
            <a:ext cx="4121646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7498705" y="3519487"/>
            <a:ext cx="4121794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571500" y="4214812"/>
            <a:ext cx="2805558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3377058" y="4214812"/>
            <a:ext cx="4121646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7498705" y="4214812"/>
            <a:ext cx="4121794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571500" y="4910137"/>
            <a:ext cx="2805558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3377058" y="4910137"/>
            <a:ext cx="4121646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7498705" y="4910137"/>
            <a:ext cx="4121794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1F3F"/>
                </a:solidFill>
                <a:latin typeface="Merriweather"/>
                <a:ea typeface="Merriweather"/>
                <a:cs typeface="Merriweather"/>
                <a:sym typeface="Merriweather"/>
              </a:rPr>
              <a:t>Comparativa Técnica</a:t>
            </a:r>
            <a:endParaRPr/>
          </a:p>
        </p:txBody>
      </p:sp>
      <p:sp>
        <p:nvSpPr>
          <p:cNvPr id="136" name="Google Shape;136;p17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/>
          <p:nvPr/>
        </p:nvSpPr>
        <p:spPr>
          <a:xfrm>
            <a:off x="571500" y="3881437"/>
            <a:ext cx="11049000" cy="3810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1562100" y="313848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2ECC71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8"/>
          <p:cNvSpPr txBox="1"/>
          <p:nvPr/>
        </p:nvSpPr>
        <p:spPr>
          <a:xfrm>
            <a:off x="516254" y="3557587"/>
            <a:ext cx="232029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ECC71"/>
                </a:solidFill>
                <a:latin typeface="Merriweather"/>
                <a:ea typeface="Merriweather"/>
                <a:cs typeface="Merriweather"/>
                <a:sym typeface="Merriweather"/>
              </a:rPr>
              <a:t>Boceto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571500" y="4129087"/>
            <a:ext cx="2209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Ideas rápidas a lápiz.</a:t>
            </a:r>
            <a:endParaRPr/>
          </a:p>
        </p:txBody>
      </p:sp>
      <p:sp>
        <p:nvSpPr>
          <p:cNvPr id="146" name="Google Shape;146;p18"/>
          <p:cNvSpPr/>
          <p:nvPr/>
        </p:nvSpPr>
        <p:spPr>
          <a:xfrm>
            <a:off x="4508450" y="313848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2ECC71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3462605" y="3557587"/>
            <a:ext cx="232029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ECC71"/>
                </a:solidFill>
                <a:latin typeface="Merriweather"/>
                <a:ea typeface="Merriweather"/>
                <a:cs typeface="Merriweather"/>
                <a:sym typeface="Merriweather"/>
              </a:rPr>
              <a:t>Wireframe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3517850" y="4129087"/>
            <a:ext cx="2209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Estructura lógica.</a:t>
            </a:r>
            <a:endParaRPr/>
          </a:p>
        </p:txBody>
      </p:sp>
      <p:sp>
        <p:nvSpPr>
          <p:cNvPr id="149" name="Google Shape;149;p18"/>
          <p:cNvSpPr/>
          <p:nvPr/>
        </p:nvSpPr>
        <p:spPr>
          <a:xfrm>
            <a:off x="7454800" y="313848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2ECC71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>
            <a:off x="6408955" y="3557587"/>
            <a:ext cx="232029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ECC71"/>
                </a:solidFill>
                <a:latin typeface="Merriweather"/>
                <a:ea typeface="Merriweather"/>
                <a:cs typeface="Merriweather"/>
                <a:sym typeface="Merriweather"/>
              </a:rPr>
              <a:t>Mockup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6464200" y="4129087"/>
            <a:ext cx="2209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Diseño visual.</a:t>
            </a:r>
            <a:endParaRPr/>
          </a:p>
        </p:txBody>
      </p:sp>
      <p:sp>
        <p:nvSpPr>
          <p:cNvPr id="152" name="Google Shape;152;p18"/>
          <p:cNvSpPr/>
          <p:nvPr/>
        </p:nvSpPr>
        <p:spPr>
          <a:xfrm>
            <a:off x="10401151" y="313848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2ECC71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 txBox="1"/>
          <p:nvPr/>
        </p:nvSpPr>
        <p:spPr>
          <a:xfrm>
            <a:off x="9355306" y="3557587"/>
            <a:ext cx="232029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ECC71"/>
                </a:solidFill>
                <a:latin typeface="Merriweather"/>
                <a:ea typeface="Merriweather"/>
                <a:cs typeface="Merriweather"/>
                <a:sym typeface="Merriweather"/>
              </a:rPr>
              <a:t>Prototipo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9410551" y="4129087"/>
            <a:ext cx="2209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Interacción real.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1F3F"/>
                </a:solidFill>
                <a:latin typeface="Merriweather"/>
                <a:ea typeface="Merriweather"/>
                <a:cs typeface="Merriweather"/>
                <a:sym typeface="Merriweather"/>
              </a:rPr>
              <a:t>El Camino al Producto Final</a:t>
            </a:r>
            <a:endParaRPr/>
          </a:p>
        </p:txBody>
      </p:sp>
      <p:sp>
        <p:nvSpPr>
          <p:cNvPr id="156" name="Google Shape;156;p18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71675"/>
            <a:ext cx="5381625" cy="381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1971675"/>
            <a:ext cx="5381625" cy="381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2171700"/>
            <a:ext cx="4981575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38900" y="2171700"/>
            <a:ext cx="4981575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646985" y="4219575"/>
            <a:ext cx="523065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ECC71"/>
                </a:solidFill>
                <a:latin typeface="Merriweather"/>
                <a:ea typeface="Merriweather"/>
                <a:cs typeface="Merriweather"/>
                <a:sym typeface="Merriweather"/>
              </a:rPr>
              <a:t>Figma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771525" y="4791075"/>
            <a:ext cx="49815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Líder en diseño colaborativo en tiempo real para todo el flujo.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6314360" y="4219575"/>
            <a:ext cx="523065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ECC71"/>
                </a:solidFill>
                <a:latin typeface="Merriweather"/>
                <a:ea typeface="Merriweather"/>
                <a:cs typeface="Merriweather"/>
                <a:sym typeface="Merriweather"/>
              </a:rPr>
              <a:t>Balsamiq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6438900" y="4791075"/>
            <a:ext cx="49815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Especializada en wireframes de baja fidelidad ultra rápidos.</a:t>
            </a:r>
            <a:endParaRPr/>
          </a:p>
        </p:txBody>
      </p:sp>
      <p:pic>
        <p:nvPicPr>
          <p:cNvPr descr="image.png" id="170" name="Google Shape;170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2171700"/>
            <a:ext cx="4981575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38900" y="2171700"/>
            <a:ext cx="4981575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1F3F"/>
                </a:solidFill>
                <a:latin typeface="Merriweather"/>
                <a:ea typeface="Merriweather"/>
                <a:cs typeface="Merriweather"/>
                <a:sym typeface="Merriweather"/>
              </a:rPr>
              <a:t>Herramientas de la Industria</a:t>
            </a:r>
            <a:endParaRPr/>
          </a:p>
        </p:txBody>
      </p:sp>
      <p:sp>
        <p:nvSpPr>
          <p:cNvPr id="173" name="Google Shape;173;p19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 txBox="1"/>
          <p:nvPr/>
        </p:nvSpPr>
        <p:spPr>
          <a:xfrm>
            <a:off x="2200513" y="2873722"/>
            <a:ext cx="7790973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1F3F"/>
                </a:solidFill>
                <a:latin typeface="Merriweather"/>
                <a:ea typeface="Merriweather"/>
                <a:cs typeface="Merriweather"/>
                <a:sym typeface="Merriweather"/>
              </a:rPr>
              <a:t>II. Colaboración en GitHub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2386012" y="3588097"/>
            <a:ext cx="74199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718096"/>
                </a:solidFill>
                <a:latin typeface="DM Sans"/>
                <a:ea typeface="DM Sans"/>
                <a:cs typeface="DM Sans"/>
                <a:sym typeface="DM Sans"/>
              </a:rPr>
              <a:t>Gestionando activos de diseño y prototipos interactivos.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90737"/>
            <a:ext cx="3492400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090737"/>
            <a:ext cx="3492549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2090737"/>
            <a:ext cx="3492400" cy="3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1"/>
          <p:cNvSpPr txBox="1"/>
          <p:nvPr/>
        </p:nvSpPr>
        <p:spPr>
          <a:xfrm>
            <a:off x="894241" y="3300412"/>
            <a:ext cx="284691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ECC71"/>
                </a:solidFill>
                <a:latin typeface="Merriweather"/>
                <a:ea typeface="Merriweather"/>
                <a:cs typeface="Merriweather"/>
                <a:sym typeface="Merriweather"/>
              </a:rPr>
              <a:t>Pull Requests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962025" y="3871912"/>
            <a:ext cx="27113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Ideal para la revisión de activos de diseño y discusión de cambios visuales por el equipo técnico.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4672388" y="3300412"/>
            <a:ext cx="284707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ECC71"/>
                </a:solidFill>
                <a:latin typeface="Merriweather"/>
                <a:ea typeface="Merriweather"/>
                <a:cs typeface="Merriweather"/>
                <a:sym typeface="Merriweather"/>
              </a:rPr>
              <a:t>Issues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4740175" y="3871912"/>
            <a:ext cx="27114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Registro de feedback de usabilidad y errores detectados en las fases de wireframing y mockup.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8450691" y="3300412"/>
            <a:ext cx="284691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ECC71"/>
                </a:solidFill>
                <a:latin typeface="Merriweather"/>
                <a:ea typeface="Merriweather"/>
                <a:cs typeface="Merriweather"/>
                <a:sym typeface="Merriweather"/>
              </a:rPr>
              <a:t>GitHub Pages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8518475" y="3871912"/>
            <a:ext cx="27113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Despliegue instantáneo de prototipos web estáticos para revisiones con stakeholders externos.</a:t>
            </a:r>
            <a:endParaRPr/>
          </a:p>
        </p:txBody>
      </p:sp>
      <p:pic>
        <p:nvPicPr>
          <p:cNvPr descr="image.png" id="195" name="Google Shape;195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79575" y="2538412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57726" y="2538412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36025" y="253841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1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1F3F"/>
                </a:solidFill>
                <a:latin typeface="Merriweather"/>
                <a:ea typeface="Merriweather"/>
                <a:cs typeface="Merriweather"/>
                <a:sym typeface="Merriweather"/>
              </a:rPr>
              <a:t>GitHub en el Ciclo de Diseño</a:t>
            </a:r>
            <a:endParaRPr/>
          </a:p>
        </p:txBody>
      </p:sp>
      <p:sp>
        <p:nvSpPr>
          <p:cNvPr id="199" name="Google Shape;199;p21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4" name="Google Shape;20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76375"/>
            <a:ext cx="11049000" cy="4810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2"/>
          <p:cNvSpPr txBox="1"/>
          <p:nvPr/>
        </p:nvSpPr>
        <p:spPr>
          <a:xfrm>
            <a:off x="571500" y="5634037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A medida que aumenta la fidelidad visual y funcional, el coste de implementación crece exponencialmente.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1F3F"/>
                </a:solidFill>
                <a:latin typeface="Merriweather"/>
                <a:ea typeface="Merriweather"/>
                <a:cs typeface="Merriweather"/>
                <a:sym typeface="Merriweather"/>
              </a:rPr>
              <a:t>Inversión vs Fidelidad</a:t>
            </a:r>
            <a:endParaRPr/>
          </a:p>
        </p:txBody>
      </p:sp>
      <p:sp>
        <p:nvSpPr>
          <p:cNvPr id="208" name="Google Shape;208;p22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3" name="Google Shape;21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3"/>
          <p:cNvSpPr txBox="1"/>
          <p:nvPr/>
        </p:nvSpPr>
        <p:spPr>
          <a:xfrm>
            <a:off x="571500" y="762000"/>
            <a:ext cx="52006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1F3F"/>
                </a:solidFill>
                <a:latin typeface="Merriweather"/>
                <a:ea typeface="Merriweather"/>
                <a:cs typeface="Merriweather"/>
                <a:sym typeface="Merriweather"/>
              </a:rPr>
              <a:t>Prototipos en GitHub Pages</a:t>
            </a:r>
            <a:endParaRPr/>
          </a:p>
        </p:txBody>
      </p:sp>
      <p:sp>
        <p:nvSpPr>
          <p:cNvPr id="215" name="Google Shape;215;p23"/>
          <p:cNvSpPr txBox="1"/>
          <p:nvPr/>
        </p:nvSpPr>
        <p:spPr>
          <a:xfrm>
            <a:off x="571500" y="2190750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Alojar prototipos estáticos (HTML/CSS) permite al equipo recibir feedback en tiempo real sin servidores complejos.</a:t>
            </a:r>
            <a:endParaRPr/>
          </a:p>
        </p:txBody>
      </p:sp>
      <p:sp>
        <p:nvSpPr>
          <p:cNvPr id="216" name="Google Shape;216;p23"/>
          <p:cNvSpPr txBox="1"/>
          <p:nvPr/>
        </p:nvSpPr>
        <p:spPr>
          <a:xfrm>
            <a:off x="571500" y="3295650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Es la herramienta ideal para compartir wireframes interactivos o versiones tempranas de la interfaz con clientes finales.</a:t>
            </a:r>
            <a:endParaRPr/>
          </a:p>
        </p:txBody>
      </p:sp>
      <p:pic>
        <p:nvPicPr>
          <p:cNvPr descr="image.png" id="217" name="Google Shape;21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4"/>
          <p:cNvSpPr txBox="1"/>
          <p:nvPr/>
        </p:nvSpPr>
        <p:spPr>
          <a:xfrm>
            <a:off x="2695575" y="2316509"/>
            <a:ext cx="6800850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1F3F"/>
                </a:solidFill>
                <a:latin typeface="Merriweather"/>
                <a:ea typeface="Merriweather"/>
                <a:cs typeface="Merriweather"/>
                <a:sym typeface="Merriweather"/>
              </a:rPr>
              <a:t>¿Preguntas?</a:t>
            </a:r>
            <a:endParaRPr/>
          </a:p>
        </p:txBody>
      </p:sp>
      <p:sp>
        <p:nvSpPr>
          <p:cNvPr id="224" name="Google Shape;224;p24"/>
          <p:cNvSpPr txBox="1"/>
          <p:nvPr/>
        </p:nvSpPr>
        <p:spPr>
          <a:xfrm>
            <a:off x="2857500" y="3469034"/>
            <a:ext cx="64770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718096"/>
                </a:solidFill>
                <a:latin typeface="DM Sans"/>
                <a:ea typeface="DM Sans"/>
                <a:cs typeface="DM Sans"/>
                <a:sym typeface="DM Sans"/>
              </a:rPr>
              <a:t>Gracias por su atención. Optimice su flujo de diseño hoy.</a:t>
            </a:r>
            <a:endParaRPr/>
          </a:p>
        </p:txBody>
      </p:sp>
      <p:sp>
        <p:nvSpPr>
          <p:cNvPr id="225" name="Google Shape;225;p24"/>
          <p:cNvSpPr txBox="1"/>
          <p:nvPr/>
        </p:nvSpPr>
        <p:spPr>
          <a:xfrm>
            <a:off x="2857500" y="4341465"/>
            <a:ext cx="6477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ECC71"/>
                </a:solidFill>
                <a:latin typeface="DM Sans"/>
                <a:ea typeface="DM Sans"/>
                <a:cs typeface="DM Sans"/>
                <a:sym typeface="DM Sans"/>
              </a:rPr>
              <a:t>github.com/prototipado-pro | #UXDesign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0" name="Google Shape;23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571500" y="2316658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5"/>
          <p:cNvSpPr/>
          <p:nvPr/>
        </p:nvSpPr>
        <p:spPr>
          <a:xfrm>
            <a:off x="571500" y="3101429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5"/>
          <p:cNvSpPr/>
          <p:nvPr/>
        </p:nvSpPr>
        <p:spPr>
          <a:xfrm>
            <a:off x="571500" y="3886200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5"/>
          <p:cNvSpPr/>
          <p:nvPr/>
        </p:nvSpPr>
        <p:spPr>
          <a:xfrm>
            <a:off x="571500" y="309190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5"/>
          <p:cNvSpPr/>
          <p:nvPr/>
        </p:nvSpPr>
        <p:spPr>
          <a:xfrm>
            <a:off x="571500" y="309190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5"/>
          <p:cNvSpPr/>
          <p:nvPr/>
        </p:nvSpPr>
        <p:spPr>
          <a:xfrm>
            <a:off x="571500" y="38766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5"/>
          <p:cNvSpPr/>
          <p:nvPr/>
        </p:nvSpPr>
        <p:spPr>
          <a:xfrm>
            <a:off x="571500" y="38766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5"/>
          <p:cNvSpPr/>
          <p:nvPr/>
        </p:nvSpPr>
        <p:spPr>
          <a:xfrm>
            <a:off x="571500" y="466144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5"/>
          <p:cNvSpPr/>
          <p:nvPr/>
        </p:nvSpPr>
        <p:spPr>
          <a:xfrm>
            <a:off x="571500" y="466144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0" name="Google Shape;24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6608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5"/>
          <p:cNvSpPr txBox="1"/>
          <p:nvPr/>
        </p:nvSpPr>
        <p:spPr>
          <a:xfrm>
            <a:off x="1666875" y="2459533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https://landing.moqups.com/img/_optimized/blog/low-fidelity-vs-high-fidelity-w400.jpeg</a:t>
            </a:r>
            <a:endParaRPr/>
          </a:p>
        </p:txBody>
      </p:sp>
      <p:sp>
        <p:nvSpPr>
          <p:cNvPr id="242" name="Google Shape;242;p25"/>
          <p:cNvSpPr txBox="1"/>
          <p:nvPr/>
        </p:nvSpPr>
        <p:spPr>
          <a:xfrm>
            <a:off x="1666875" y="270524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moqups.com</a:t>
            </a:r>
            <a:endParaRPr/>
          </a:p>
        </p:txBody>
      </p:sp>
      <p:pic>
        <p:nvPicPr>
          <p:cNvPr descr="image.png" id="243" name="Google Shape;24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5085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5"/>
          <p:cNvSpPr txBox="1"/>
          <p:nvPr/>
        </p:nvSpPr>
        <p:spPr>
          <a:xfrm>
            <a:off x="1666875" y="3244304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https://firmbee.com/wp-content/uploads/3-1-1-800x500.png</a:t>
            </a:r>
            <a:endParaRPr/>
          </a:p>
        </p:txBody>
      </p:sp>
      <p:sp>
        <p:nvSpPr>
          <p:cNvPr id="245" name="Google Shape;245;p25"/>
          <p:cNvSpPr txBox="1"/>
          <p:nvPr/>
        </p:nvSpPr>
        <p:spPr>
          <a:xfrm>
            <a:off x="1666875" y="349001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firmbee.com</a:t>
            </a:r>
            <a:endParaRPr/>
          </a:p>
        </p:txBody>
      </p:sp>
      <p:pic>
        <p:nvPicPr>
          <p:cNvPr descr="image.png" id="246" name="Google Shape;246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3562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5"/>
          <p:cNvSpPr txBox="1"/>
          <p:nvPr/>
        </p:nvSpPr>
        <p:spPr>
          <a:xfrm>
            <a:off x="1666875" y="402907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https://balsamiq.com/assets/balsamiq-helps-your-ideas.png</a:t>
            </a:r>
            <a:endParaRPr/>
          </a:p>
        </p:txBody>
      </p:sp>
      <p:sp>
        <p:nvSpPr>
          <p:cNvPr id="248" name="Google Shape;248;p25"/>
          <p:cNvSpPr txBox="1"/>
          <p:nvPr/>
        </p:nvSpPr>
        <p:spPr>
          <a:xfrm>
            <a:off x="1666875" y="427479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balsamiq.com</a:t>
            </a:r>
            <a:endParaRPr/>
          </a:p>
        </p:txBody>
      </p:sp>
      <p:pic>
        <p:nvPicPr>
          <p:cNvPr descr="image.png" id="249" name="Google Shape;249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82039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5"/>
          <p:cNvSpPr txBox="1"/>
          <p:nvPr/>
        </p:nvSpPr>
        <p:spPr>
          <a:xfrm>
            <a:off x="1666875" y="481384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https://raw.githubusercontent.com/github/explore/80688e429a7d4ef2fca1e82350fe8e3517d3494d/collections/github-pages-examples/github-pages-examples.png</a:t>
            </a:r>
            <a:endParaRPr/>
          </a:p>
        </p:txBody>
      </p:sp>
      <p:sp>
        <p:nvSpPr>
          <p:cNvPr id="251" name="Google Shape;251;p25"/>
          <p:cNvSpPr txBox="1"/>
          <p:nvPr/>
        </p:nvSpPr>
        <p:spPr>
          <a:xfrm>
            <a:off x="1666875" y="505956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github.com</a:t>
            </a:r>
            <a:endParaRPr/>
          </a:p>
        </p:txBody>
      </p:sp>
      <p:sp>
        <p:nvSpPr>
          <p:cNvPr id="252" name="Google Shape;252;p25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1F3F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  <p:sp>
        <p:nvSpPr>
          <p:cNvPr id="253" name="Google Shape;253;p25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
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Poppins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12AD6B-7670-4E36-A741-19397D9A2A4E}">
  <a:tblStyle styleId="{F712AD6B-7670-4E36-A741-19397D9A2A4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Relationship Id="rId7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9" Type="http://schemas.openxmlformats.org/officeDocument/2006/relationships/image" Target="../media/image23.png"/><Relationship Id="rId5" Type="http://schemas.openxmlformats.org/officeDocument/2006/relationships/image" Target="../media/image18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5715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Arquitectura de Datos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19050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09F3E"/>
                </a:solidFill>
                <a:latin typeface="Poppins"/>
                <a:ea typeface="Poppins"/>
                <a:cs typeface="Poppins"/>
                <a:sym typeface="Poppins"/>
              </a:rPr>
              <a:t>Diagramas de Estado, Transacciones y Sistemas Activos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2743200"/>
            <a:ext cx="952500" cy="381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35280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Guía avanzada para la especialización en ingeniería de datos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Agenda de Especialización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1676400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01. Modelado Dinámico</a:t>
            </a: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Teoría de Máquinas de Estado y Matrices de Transición.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590800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02. El Motor Transaccional</a:t>
            </a: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Profundización en ACID y Niveles de Aislamiento.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3505200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03. Bases de Datos Activas</a:t>
            </a: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Modelo ECA, Triggers y Lógica Procedural.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381750" y="1676400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04. Resiliencia y Durabilidad</a:t>
            </a: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Write-Ahead Logging (WAL) y estrategias de recuperación.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381750" y="2590800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05. Sistemas Distribuidos</a:t>
            </a: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Transacciones distribuidas (2PC) y Teorema CAP.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762000" y="57150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Diagramas de Estado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1714500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El modelado de estados define el </a:t>
            </a:r>
            <a:r>
              <a:rPr b="1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comportamiento dinámico</a:t>
            </a: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de las entidades. A diferencia del modelo ER, los estados garantizan que un registro solo transite por rutas lógicas permitidas.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3238500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Componentes clave: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38200" y="38671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52500" y="3867150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Estados:</a:t>
            </a: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Situaciones finitas de un registro.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38200" y="41529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52500" y="4152900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Transiciones:</a:t>
            </a: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El camino de cambio.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38200" y="44386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52500" y="4438650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Guardas:</a:t>
            </a: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Validaciones lógicas críticas.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Matriz de Transición de Estados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45148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Esta matriz previene inconsistencias lógicas en el negocio, actuando como la "máquina de la verdad" del proceso.</a:t>
            </a:r>
            <a:endParaRPr/>
          </a:p>
        </p:txBody>
      </p:sp>
      <p:graphicFrame>
        <p:nvGraphicFramePr>
          <p:cNvPr id="125" name="Google Shape;125;p16"/>
          <p:cNvGraphicFramePr/>
          <p:nvPr/>
        </p:nvGraphicFramePr>
        <p:xfrm>
          <a:off x="571500" y="1714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{F712AD6B-7670-4E36-A741-19397D9A2A4E}</a:tableStyleId>
              </a:tblPr>
              <a:tblGrid>
                <a:gridCol w="2458200"/>
                <a:gridCol w="2458200"/>
                <a:gridCol w="3515475"/>
                <a:gridCol w="26171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Estado Origen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Estado Destino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Evento Disparador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Guardas / Condición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ORDEN_CREADA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ORDEN_PAGADA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PAGO_RECIBIDO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Stock &gt; 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ORDEN_PAGADA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EN_PREPARACION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CONFIRMACION_ALMACEN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Asignación de Picking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EN_PREPARACION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ENVIADA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DESPACHO_LOGISTICA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Guía generada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* CUALQUIERA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CANCELADA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SOLICITUD_USUARIO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Estado != 'ENVIADA'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6" name="Google Shape;126;p16"/>
          <p:cNvSpPr/>
          <p:nvPr/>
        </p:nvSpPr>
        <p:spPr>
          <a:xfrm>
            <a:off x="571500" y="2700337"/>
            <a:ext cx="2458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3029694" y="2700337"/>
            <a:ext cx="2458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5487888" y="2700337"/>
            <a:ext cx="3515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9003357" y="2700337"/>
            <a:ext cx="26171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571500" y="3205162"/>
            <a:ext cx="2458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3029694" y="3205162"/>
            <a:ext cx="2458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5487888" y="3205162"/>
            <a:ext cx="3515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9003357" y="3205162"/>
            <a:ext cx="26171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571500" y="3709987"/>
            <a:ext cx="2458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3029694" y="3709987"/>
            <a:ext cx="2458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487888" y="3709987"/>
            <a:ext cx="3515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9003357" y="3709987"/>
            <a:ext cx="26171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71500" y="4214812"/>
            <a:ext cx="2458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3029694" y="4214812"/>
            <a:ext cx="2458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5487888" y="4214812"/>
            <a:ext cx="3515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9003357" y="4214812"/>
            <a:ext cx="26171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Propiedades ACID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2052637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E09F3E"/>
                </a:solidFill>
                <a:latin typeface="Lato"/>
                <a:ea typeface="Lato"/>
                <a:cs typeface="Lato"/>
                <a:sym typeface="Lato"/>
              </a:rPr>
              <a:t>100%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3195637"/>
            <a:ext cx="523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B263B"/>
                </a:solidFill>
                <a:latin typeface="Lato"/>
                <a:ea typeface="Lato"/>
                <a:cs typeface="Lato"/>
                <a:sym typeface="Lato"/>
              </a:rPr>
              <a:t>Integridad de Datos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381750" y="1524000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El Contrato Transaccional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381750" y="1990725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Las bases de datos relacionales garantizan la integridad mediante el cumplimiento estricto de: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648450" y="27527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762750" y="2752725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Atomicidad:</a:t>
            </a: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Todo o nada.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648450" y="30384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762750" y="3038475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Consistencia:</a:t>
            </a: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Paso de estado válido a válido.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648450" y="33242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762750" y="3324225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Aislamiento:</a:t>
            </a: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Invisibilidad de transacciones concurrentes.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648450" y="36099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762750" y="3609975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Durabilidad:</a:t>
            </a: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Persistencia post-fallo.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6500" y="1524000"/>
            <a:ext cx="9144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6500" y="2047875"/>
            <a:ext cx="9144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6500" y="2571750"/>
            <a:ext cx="9144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6500" y="1524000"/>
            <a:ext cx="86868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76500" y="2047875"/>
            <a:ext cx="64008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76500" y="2571750"/>
            <a:ext cx="32004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Niveles de Aislamiento vs. Rendimiento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571500" y="34766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A mayor seguridad de aislamiento, mayor es la contención de recursos y menor el rendimiento.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571500" y="1585912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Read Committed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571500" y="2109787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Repeatable Read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571500" y="2633662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Serializable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523875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524000"/>
            <a:ext cx="523875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Control de Concurrencia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952500" y="1952625"/>
            <a:ext cx="47005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Bloqueo Pesimista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952500" y="2419350"/>
            <a:ext cx="4476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El sistema bloquea el recurso inmediatamente al ser accedido. Ideal para entornos de alta contención donde los conflictos son frecuentes.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952500" y="3467100"/>
            <a:ext cx="4476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11D48"/>
                </a:solidFill>
                <a:latin typeface="Lato"/>
                <a:ea typeface="Lato"/>
                <a:cs typeface="Lato"/>
                <a:sym typeface="Lato"/>
              </a:rPr>
              <a:t>Riesgo elevado de Deadlocks.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762750" y="1952625"/>
            <a:ext cx="47005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Bloqueo Optimista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762750" y="2419350"/>
            <a:ext cx="4476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No se bloquea el recurso. Al intentar guardar, se verifica una versión. Ideal para sistemas distribuidos y alta escalabilidad.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6762750" y="3467100"/>
            <a:ext cx="4476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Lato"/>
                <a:ea typeface="Lato"/>
                <a:cs typeface="Lato"/>
                <a:sym typeface="Lato"/>
              </a:rPr>
              <a:t>Menor latencia de lectura.</a:t>
            </a:r>
            <a:endParaRPr/>
          </a:p>
        </p:txBody>
      </p:sp>
      <p:pic>
        <p:nvPicPr>
          <p:cNvPr descr="image.png" id="193" name="Google Shape;19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5052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0" y="3505200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3465671" y="2300287"/>
            <a:ext cx="5260657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E09F3E"/>
                </a:solidFill>
                <a:latin typeface="Poppins"/>
                <a:ea typeface="Poppins"/>
                <a:cs typeface="Poppins"/>
                <a:sym typeface="Poppins"/>
              </a:rPr>
              <a:t>Durabilidad y WAL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2286000" y="3300412"/>
            <a:ext cx="76200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El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Write-Ahead Logging</a:t>
            </a:r>
            <a:r>
              <a:rPr b="0" i="0" lang="en-US" sz="18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asegura que ningún cambio confirmado se pierda. Antes de persistir en las tablas finales, el motor registra la intención en un log secuencial, permitiendo la recuperación ante fallos catastróficos.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3555950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524000"/>
            <a:ext cx="3555950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524000"/>
            <a:ext cx="355595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El Modelo ECA</a:t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866775" y="2428875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63B"/>
                </a:solidFill>
                <a:latin typeface="Poppins"/>
                <a:ea typeface="Poppins"/>
                <a:cs typeface="Poppins"/>
                <a:sym typeface="Poppins"/>
              </a:rPr>
              <a:t>Evento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866775" y="2952750"/>
            <a:ext cx="296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El disparador primario. Puede ser una operación DML (INSERT, UPDATE) o una señal temporal del sistema.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4613225" y="2428875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63B"/>
                </a:solidFill>
                <a:latin typeface="Poppins"/>
                <a:ea typeface="Poppins"/>
                <a:cs typeface="Poppins"/>
                <a:sym typeface="Poppins"/>
              </a:rPr>
              <a:t>Condición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4613225" y="2952750"/>
            <a:ext cx="296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Regla lógica que evalúa si la acción debe ejecutarse. Previene ejecuciones innecesarias y optimiza recursos.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8359675" y="2428875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63B"/>
                </a:solidFill>
                <a:latin typeface="Poppins"/>
                <a:ea typeface="Poppins"/>
                <a:cs typeface="Poppins"/>
                <a:sym typeface="Poppins"/>
              </a:rPr>
              <a:t>Acción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8359675" y="2952750"/>
            <a:ext cx="296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La consecuencia final. Puede ser otra modificación de datos, un cálculo derivado o el registro de una auditoría.</a:t>
            </a:r>
            <a:endParaRPr/>
          </a:p>
        </p:txBody>
      </p:sp>
      <p:pic>
        <p:nvPicPr>
          <p:cNvPr descr="image.png" id="218" name="Google Shape;21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1866900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18669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1866900"/>
            <a:ext cx="25717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9243" y="152400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3618" y="2238375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Tipos de Eventos de Base de Datos</a:t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7279481" y="2476500"/>
            <a:ext cx="33432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DML (60%):</a:t>
            </a: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CRUD de datos.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7279481" y="2952750"/>
            <a:ext cx="33432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Temporales (25%):</a:t>
            </a: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Schedulers/Jobs.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7279481" y="3429000"/>
            <a:ext cx="33432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DDL (15%):</a:t>
            </a: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Cambios de esquema.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Lógica Procedural y Triggers</a:t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1" name="Google Shape;24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5240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6381750" y="188118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Triggers y Stored Procedures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6381750" y="2347912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Permiten mover la lógica de negocio </a:t>
            </a:r>
            <a:r>
              <a:rPr b="1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dentro del motor</a:t>
            </a: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para garantizar el cumplimiento de reglas independientemente de la aplicación.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6648450" y="339566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6762750" y="3395662"/>
            <a:ext cx="4857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Integridad Referencial Compleja:</a:t>
            </a: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Más allá de las claves foráneas.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6648450" y="396716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6762750" y="396716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Auditoría Transparente:</a:t>
            </a: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Historial automático de cambios.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6648450" y="425291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6762750" y="4252912"/>
            <a:ext cx="4857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Encapsulamiento:</a:t>
            </a: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Seguridad mediante procedimientos almacenados.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Sistemas Distribuidos: 2PC Latencia</a:t>
            </a:r>
            <a:endParaRPr/>
          </a:p>
        </p:txBody>
      </p:sp>
      <p:sp>
        <p:nvSpPr>
          <p:cNvPr id="256" name="Google Shape;256;p24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 txBox="1"/>
          <p:nvPr/>
        </p:nvSpPr>
        <p:spPr>
          <a:xfrm>
            <a:off x="571500" y="171450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Impacto del protocolo </a:t>
            </a:r>
            <a:r>
              <a:rPr b="1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Two-Phase Commit (2PC)</a:t>
            </a: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en la latencia transaccional distribuida.</a:t>
            </a:r>
            <a:endParaRPr/>
          </a:p>
        </p:txBody>
      </p:sp>
      <p:pic>
        <p:nvPicPr>
          <p:cNvPr descr="image.png" id="258" name="Google Shape;25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1250"/>
            <a:ext cx="11049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 txBox="1"/>
          <p:nvPr/>
        </p:nvSpPr>
        <p:spPr>
          <a:xfrm>
            <a:off x="571500" y="54292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A medida que aumenta la distribución, el costo de la consistencia (Teorema CAP) impacta directamente en la disponibilidad.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6500"/>
            <a:ext cx="243066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4180" y="2476500"/>
            <a:ext cx="243066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6860" y="2476500"/>
            <a:ext cx="243066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89541" y="2476500"/>
            <a:ext cx="2430660" cy="181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Flujo de Recuperación post-Fallo</a:t>
            </a:r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571500" y="3386137"/>
            <a:ext cx="11049000" cy="1905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1467742" y="2676525"/>
            <a:ext cx="6381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01. Crash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771525" y="3048000"/>
            <a:ext cx="203061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Fallo del sistema, pérdida de memoria volátil.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4283273" y="2676525"/>
            <a:ext cx="7524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02. Análisis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3644205" y="3048000"/>
            <a:ext cx="203061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Lectura del WAL para identificar transacciones abiertas.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7236916" y="2676525"/>
            <a:ext cx="5905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03. Redo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6516885" y="3048000"/>
            <a:ext cx="203061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Re-ejecución de cambios confirmados no persistidos.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10100071" y="2676525"/>
            <a:ext cx="609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04. Undo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9389566" y="3048000"/>
            <a:ext cx="203061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Reversión de transacciones que no hicieron COMMIT.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4" name="Google Shape;28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6"/>
          <p:cNvSpPr txBox="1"/>
          <p:nvPr/>
        </p:nvSpPr>
        <p:spPr>
          <a:xfrm>
            <a:off x="295275" y="5715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E09F3E"/>
                </a:solidFill>
                <a:latin typeface="Poppins"/>
                <a:ea typeface="Poppins"/>
                <a:cs typeface="Poppins"/>
                <a:sym typeface="Poppins"/>
              </a:rPr>
              <a:t>¿Preguntas?</a:t>
            </a:r>
            <a:endParaRPr/>
          </a:p>
        </p:txBody>
      </p:sp>
      <p:sp>
        <p:nvSpPr>
          <p:cNvPr id="286" name="Google Shape;286;p26"/>
          <p:cNvSpPr txBox="1"/>
          <p:nvPr/>
        </p:nvSpPr>
        <p:spPr>
          <a:xfrm>
            <a:off x="571500" y="19050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Tu especialización en el mundo de los datos comienza con el dominio de estos fundamentos.</a:t>
            </a:r>
            <a:endParaRPr/>
          </a:p>
        </p:txBody>
      </p:sp>
      <p:sp>
        <p:nvSpPr>
          <p:cNvPr id="287" name="Google Shape;287;p26"/>
          <p:cNvSpPr txBox="1"/>
          <p:nvPr/>
        </p:nvSpPr>
        <p:spPr>
          <a:xfrm>
            <a:off x="571500" y="3048000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Ingeniería de Sistemas de Datos |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
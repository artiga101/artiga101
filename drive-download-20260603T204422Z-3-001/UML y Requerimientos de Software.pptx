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5C409A-1E9E-40FB-8189-14D8C01357E2}">
  <a:tblStyle styleId="{365C409A-1E9E-40FB-8189-14D8C01357E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cb2da458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cb2da458d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cb2da458d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ccb2da458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11" Type="http://schemas.openxmlformats.org/officeDocument/2006/relationships/image" Target="../media/image21.png"/><Relationship Id="rId10" Type="http://schemas.openxmlformats.org/officeDocument/2006/relationships/image" Target="../media/image19.png"/><Relationship Id="rId9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Relationship Id="rId8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619750" y="4280445"/>
            <a:ext cx="9525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15100" y="1223300"/>
            <a:ext cx="1219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historia de </a:t>
            </a:r>
            <a:r>
              <a:rPr b="1" i="0" lang="en-US" sz="4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UML</a:t>
            </a:r>
            <a:r>
              <a:rPr b="1" lang="en-US" sz="4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4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 REQUERIMIENTOS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4200525" y="3603277"/>
            <a:ext cx="37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605212" y="2746027"/>
            <a:ext cx="5230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b="1" i="0" lang="en-US" sz="45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. Historia de UML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5174"/>
            <a:ext cx="5623575" cy="2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762000" y="3119937"/>
            <a:ext cx="45054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Existían más de 50 métodos de modelado diferentes. La falta de estándares dificultaba la comunicación entre arquitectos y desarrolladores, causando fallos críticos en sistemas complejos.</a:t>
            </a:r>
            <a:endParaRPr sz="1600"/>
          </a:p>
        </p:txBody>
      </p:sp>
      <p:sp>
        <p:nvSpPr>
          <p:cNvPr id="102" name="Google Shape;102;p15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Evolución del Modelado </a:t>
            </a:r>
            <a:r>
              <a:rPr b="1" lang="en-US" sz="315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part:1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849338" y="2577012"/>
            <a:ext cx="4730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El Caos de los 80</a:t>
            </a:r>
            <a:endParaRPr sz="1800"/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3823" y="1171575"/>
            <a:ext cx="4505325" cy="5073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0978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571500" y="2109787"/>
            <a:ext cx="52863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 1994, tres visionarios en </a:t>
            </a:r>
            <a:r>
              <a:rPr b="1" i="0" lang="en-US" sz="17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Rational Software</a:t>
            </a:r>
            <a:r>
              <a:rPr b="0" i="0" lang="en-US" sz="17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unieron sus métodos:</a:t>
            </a:r>
            <a:endParaRPr sz="1600"/>
          </a:p>
        </p:txBody>
      </p:sp>
      <p:sp>
        <p:nvSpPr>
          <p:cNvPr id="113" name="Google Shape;113;p16"/>
          <p:cNvSpPr txBox="1"/>
          <p:nvPr/>
        </p:nvSpPr>
        <p:spPr>
          <a:xfrm>
            <a:off x="571488" y="4795937"/>
            <a:ext cx="52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Esta unión eliminó la "guerra de métodos" y estableció las bases del estándar actual.</a:t>
            </a:r>
            <a:endParaRPr/>
          </a:p>
        </p:txBody>
      </p:sp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0978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647700" y="28717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762000" y="2871787"/>
            <a:ext cx="509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Grady Booch:</a:t>
            </a:r>
            <a:r>
              <a:rPr b="0" i="0" lang="en-US" sz="16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Diseño Orientado a Objetos (OOA/D).</a:t>
            </a:r>
            <a:endParaRPr sz="1500"/>
          </a:p>
        </p:txBody>
      </p:sp>
      <p:sp>
        <p:nvSpPr>
          <p:cNvPr id="117" name="Google Shape;117;p16"/>
          <p:cNvSpPr txBox="1"/>
          <p:nvPr/>
        </p:nvSpPr>
        <p:spPr>
          <a:xfrm>
            <a:off x="647700" y="31765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762000" y="3176587"/>
            <a:ext cx="509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James Rumbaugh:</a:t>
            </a:r>
            <a:r>
              <a:rPr b="0" i="0" lang="en-US" sz="16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Técnica de Modelado de Objetos (OMT).</a:t>
            </a:r>
            <a:endParaRPr sz="1500"/>
          </a:p>
        </p:txBody>
      </p:sp>
      <p:sp>
        <p:nvSpPr>
          <p:cNvPr id="119" name="Google Shape;119;p16"/>
          <p:cNvSpPr txBox="1"/>
          <p:nvPr/>
        </p:nvSpPr>
        <p:spPr>
          <a:xfrm>
            <a:off x="666750" y="4023139"/>
            <a:ext cx="7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62000" y="3970950"/>
            <a:ext cx="509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Ivar Jacobson:</a:t>
            </a:r>
            <a:r>
              <a:rPr b="0" i="0" lang="en-US" sz="16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Ingeniería de Software Orientada a Objetos (OOSE).</a:t>
            </a:r>
            <a:endParaRPr sz="1500"/>
          </a:p>
        </p:txBody>
      </p:sp>
      <p:sp>
        <p:nvSpPr>
          <p:cNvPr id="121" name="Google Shape;121;p16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Los Tres Amigos </a:t>
            </a:r>
            <a:r>
              <a:rPr b="1" lang="en-US" sz="315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“el inicio del </a:t>
            </a:r>
            <a:r>
              <a:rPr b="1" lang="en-US" sz="315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estándar</a:t>
            </a:r>
            <a:r>
              <a:rPr b="1" lang="en-US" sz="315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”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76512"/>
            <a:ext cx="5286375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6724650" y="3509962"/>
            <a:ext cx="4505400" cy="1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UML nace para consolidar las mejores prácticas de la industria en una notación única. Se convierte en el "plano" universal para la arquitectura de software moderna.</a:t>
            </a:r>
            <a:endParaRPr sz="1600"/>
          </a:p>
        </p:txBody>
      </p:sp>
      <p:sp>
        <p:nvSpPr>
          <p:cNvPr id="130" name="Google Shape;130;p17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Evolución del Modelado </a:t>
            </a:r>
            <a:r>
              <a:rPr b="1" lang="en-US" sz="315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part:2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71500" y="571500"/>
            <a:ext cx="76200" cy="60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6612000" y="2772037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La Solución Unificada</a:t>
            </a:r>
            <a:endParaRPr sz="1700"/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750" y="1815000"/>
            <a:ext cx="5780650" cy="420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/>
          <p:nvPr/>
        </p:nvSpPr>
        <p:spPr>
          <a:xfrm>
            <a:off x="571500" y="4157662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1581150" y="4062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3790950" y="4062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6000750" y="4062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8210550" y="4062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0420350" y="4062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4872037"/>
            <a:ext cx="2209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Booch y Rumbaugh inician el "Método Unificado".</a:t>
            </a:r>
            <a:endParaRPr b="1" sz="1600"/>
          </a:p>
        </p:txBody>
      </p:sp>
      <p:sp>
        <p:nvSpPr>
          <p:cNvPr id="146" name="Google Shape;146;p18"/>
          <p:cNvSpPr txBox="1"/>
          <p:nvPr/>
        </p:nvSpPr>
        <p:spPr>
          <a:xfrm>
            <a:off x="2781300" y="3302496"/>
            <a:ext cx="2209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libera UML 0.9. Jacobson se une al equipo.</a:t>
            </a:r>
            <a:endParaRPr b="1" sz="1600"/>
          </a:p>
        </p:txBody>
      </p:sp>
      <p:sp>
        <p:nvSpPr>
          <p:cNvPr id="147" name="Google Shape;147;p18"/>
          <p:cNvSpPr txBox="1"/>
          <p:nvPr/>
        </p:nvSpPr>
        <p:spPr>
          <a:xfrm>
            <a:off x="4991100" y="4872037"/>
            <a:ext cx="2209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OMG adopta UML 1.1 como estándar industrial.</a:t>
            </a:r>
            <a:endParaRPr b="1" sz="1600"/>
          </a:p>
        </p:txBody>
      </p:sp>
      <p:sp>
        <p:nvSpPr>
          <p:cNvPr id="148" name="Google Shape;148;p18"/>
          <p:cNvSpPr txBox="1"/>
          <p:nvPr/>
        </p:nvSpPr>
        <p:spPr>
          <a:xfrm>
            <a:off x="7200900" y="3302496"/>
            <a:ext cx="2209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UML 2.0: Soporte para arquitecturas complejas.</a:t>
            </a:r>
            <a:endParaRPr b="1" sz="1600"/>
          </a:p>
        </p:txBody>
      </p:sp>
      <p:sp>
        <p:nvSpPr>
          <p:cNvPr id="149" name="Google Shape;149;p18"/>
          <p:cNvSpPr txBox="1"/>
          <p:nvPr/>
        </p:nvSpPr>
        <p:spPr>
          <a:xfrm>
            <a:off x="9410700" y="4872037"/>
            <a:ext cx="22098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UML 2.5.1: Estándar para DevOps y SOA.</a:t>
            </a:r>
            <a:endParaRPr b="1" sz="1700"/>
          </a:p>
        </p:txBody>
      </p:sp>
      <p:sp>
        <p:nvSpPr>
          <p:cNvPr id="150" name="Google Shape;150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Hitos del Estándar UML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516254" y="4443412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1994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2726055" y="2873871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1996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935855" y="4443412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1997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145655" y="2873871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2005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355455" y="4443412"/>
            <a:ext cx="23202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Hoy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2096400" y="2096399"/>
            <a:ext cx="6933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="1" i="0" lang="en-US" sz="45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. Requerimientos de sistemas (RF)(RNF)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52662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52662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6334125" y="320516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Describen las funciones o servicios que el sistema debe proveer.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334125" y="472916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Ejemplo: "El usuario debe poder realizar pagos con tarjeta".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6410325" y="36623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6524625" y="366236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Respuesta a entradas específicas.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6410325" y="39671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6524625" y="396716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Comportamiento ante eventos.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6410325" y="42719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6524625" y="427196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Notaciones: Casos de Uso en UML.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Requerimientos Funcionales</a:t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334125" y="266223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El "Qué" del Sistema</a:t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571500" y="33623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Definen restricciones o atributos de calidad que afectan al sistema en su totalidad.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571500" y="41148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 son funciones directas, sino características de operación como rendimiento, seguridad y disponibilidad.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48672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Ejemplo: "La base de datos debe encriptar datos en reposo (AES-256)".</a:t>
            </a:r>
            <a:endParaRPr/>
          </a:p>
        </p:txBody>
      </p:sp>
      <p:pic>
        <p:nvPicPr>
          <p:cNvPr descr="image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71500" y="1238250"/>
            <a:ext cx="52006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Requerimientos No Funcionales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2819400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El "Cómo" (Criterios de Calidad)</a:t>
            </a: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/>
          <p:nvPr/>
        </p:nvSpPr>
        <p:spPr>
          <a:xfrm>
            <a:off x="571500" y="2571750"/>
            <a:ext cx="11049000" cy="26955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8" name="Google Shape;198;p22"/>
          <p:cNvGraphicFramePr/>
          <p:nvPr/>
        </p:nvGraphicFramePr>
        <p:xfrm>
          <a:off x="571500" y="2571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{365C409A-1E9E-40FB-8189-14D8C01357E2}</a:tableStyleId>
              </a:tblPr>
              <a:tblGrid>
                <a:gridCol w="2790075"/>
                <a:gridCol w="4278225"/>
                <a:gridCol w="3980700"/>
              </a:tblGrid>
              <a:tr h="5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Atributo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Funcionales (FR)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Funcionales (NFR)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Objetivo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Funciones del producto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Propiedades del sistema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 sistema no funciona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 sistema es deficiente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Casos de prueba unitarios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Pruebas de carga y estrés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Modelado UML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Diagramas de Casos de Uso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Diagramas de Despliegue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22"/>
          <p:cNvSpPr/>
          <p:nvPr/>
        </p:nvSpPr>
        <p:spPr>
          <a:xfrm>
            <a:off x="571500" y="3652837"/>
            <a:ext cx="279008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3361580" y="3652837"/>
            <a:ext cx="427821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7639794" y="3652837"/>
            <a:ext cx="39807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571500" y="4186237"/>
            <a:ext cx="279008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3361580" y="4186237"/>
            <a:ext cx="427821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7639794" y="4186237"/>
            <a:ext cx="39807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571500" y="4719637"/>
            <a:ext cx="279008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361580" y="4719637"/>
            <a:ext cx="427821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7639794" y="4719637"/>
            <a:ext cx="39807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571500" y="5253037"/>
            <a:ext cx="279008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3361580" y="5253037"/>
            <a:ext cx="427821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7639794" y="5253037"/>
            <a:ext cx="39807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Funcionales vs No Funcionales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7450"/>
            <a:ext cx="32130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9400" y="2457450"/>
            <a:ext cx="32130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7300" y="2457450"/>
            <a:ext cx="321305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866775" y="4029075"/>
            <a:ext cx="262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Descubrir necesidades mediante entrevistas y talleres con stakeholders.</a:t>
            </a:r>
            <a:endParaRPr/>
          </a:p>
        </p:txBody>
      </p:sp>
      <p:pic>
        <p:nvPicPr>
          <p:cNvPr descr="image.png" id="222" name="Google Shape;22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70300" y="384333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4784675" y="4029075"/>
            <a:ext cx="262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Clasificar en FR/NFR y modelar con diagramas UML de alto nivel.</a:t>
            </a:r>
            <a:endParaRPr/>
          </a:p>
        </p:txBody>
      </p:sp>
      <p:pic>
        <p:nvPicPr>
          <p:cNvPr descr="image.png" id="224" name="Google Shape;22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88200" y="384333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8702575" y="4029075"/>
            <a:ext cx="262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Confirmar que los requisitos documentados coinciden con el negocio.</a:t>
            </a:r>
            <a:endParaRPr/>
          </a:p>
        </p:txBody>
      </p:sp>
      <p:pic>
        <p:nvPicPr>
          <p:cNvPr descr="image.png" id="226" name="Google Shape;22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49350" y="28003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10101" y="28003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13726" y="280035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Ciclo de Requerimientos (Diagrama)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801212" y="3486150"/>
            <a:ext cx="27536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Elicitación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4719112" y="3486150"/>
            <a:ext cx="27536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Análisis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8637013" y="3486150"/>
            <a:ext cx="27536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Validación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8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3057525" y="5505450"/>
            <a:ext cx="6076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Distribución típica de prioridades en el desarrollo de software empresarial.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Atributos de Calidad (NFR)</a:t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800" y="0"/>
            <a:ext cx="1021245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
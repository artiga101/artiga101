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layfair Display"/>
      <p:regular r:id="rId23"/>
      <p:bold r:id="rId24"/>
      <p:italic r:id="rId25"/>
      <p:boldItalic r:id="rId26"/>
    </p:embeddedFont>
    <p:embeddedFont>
      <p:font typeface="Robo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777E68-4663-4954-A8FD-B1A1DAB75126}">
  <a:tblStyle styleId="{E9777E68-4663-4954-A8FD-B1A1DAB751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RobotoLight-bold.fntdata"/><Relationship Id="rId27" Type="http://schemas.openxmlformats.org/officeDocument/2006/relationships/font" Target="fonts/Robo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439441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Anatomía de los Datos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9091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96B"/>
                </a:solidFill>
                <a:latin typeface="Roboto Light"/>
                <a:ea typeface="Roboto Light"/>
                <a:cs typeface="Roboto Light"/>
                <a:sym typeface="Roboto Light"/>
              </a:rPr>
              <a:t>Estructuración y Gestión de Atributos en el Modelado de Clases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37583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8909C"/>
                </a:solidFill>
                <a:latin typeface="Roboto"/>
                <a:ea typeface="Roboto"/>
                <a:cs typeface="Roboto"/>
                <a:sym typeface="Roboto"/>
              </a:rPr>
              <a:t>Investigación técnica sobre la definición de propiedades en bases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0096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Fundamentos del Atributo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924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Definiendo el estado y las características de las entidades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987"/>
            <a:ext cx="52387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66987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2957512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¿Qué es un Atributo?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19563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Es una unidad de datos que describe una propiedad específica de una clase. Representa el "qué sabe" el objeto sobre sí mismo, definiendo su estado interno.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2957512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Encapsulamiento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72275" y="31956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La visibilidad determina quién puede acceder al dato: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896100" y="3900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962775" y="39004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Privado (-):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Solo la clase misma.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896100" y="4205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962775" y="42052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Público (+):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Cualquier otra clase.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96100" y="4510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962775" y="45100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Protegido (#):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Solo subclases.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Atributos: Definición y Visibilidad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65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6500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84223" y="3552825"/>
            <a:ext cx="30671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Compuestos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7250" y="379095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Atributos que se pueden dividir en sub-partes con significado propio, como una </a:t>
            </a: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Dirección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(Calle, Ciudad, CP).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62523" y="3552825"/>
            <a:ext cx="30671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Multivaluados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35549" y="379095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Propiedades que pueden tener más de un valor para una instancia, como los </a:t>
            </a: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Teléfonos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de un docente.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40822" y="3552825"/>
            <a:ext cx="30671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Derivados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13849" y="379095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Valores que no se almacenan físicamente, sino que se calculan a partir de otros, como la </a:t>
            </a: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Edad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 partir de la fecha de nacimiento.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8479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8479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2849" y="28479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Tipos Complejos de Atributos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7"/>
          <p:cNvGraphicFramePr/>
          <p:nvPr/>
        </p:nvGraphicFramePr>
        <p:xfrm>
          <a:off x="571500" y="23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{E9777E68-4663-4954-A8FD-B1A1DAB75126}</a:tableStyleId>
              </a:tblPr>
              <a:tblGrid>
                <a:gridCol w="1928375"/>
                <a:gridCol w="3238200"/>
                <a:gridCol w="3104850"/>
                <a:gridCol w="2777575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Tipo de Dato (SQL/UML)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Ejemplo de Dominio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Restricción Típica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VARCHAR / 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Cédulas, Matrículas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 NULL, UNIQUE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 /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Nombres, Descripciones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Min Length: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Temporal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 / TIMESTAMP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 de Ingreso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Check: &lt; CurrentDate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Numérico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DECIMAL / 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Salarios, Promedios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Range: 0.0 - 100.0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571500" y="3652837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499866" y="3652837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38068" y="3652837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8842920" y="3652837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310062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499866" y="4310062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38068" y="4310062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842920" y="4310062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967287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499866" y="4967287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38068" y="4967287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8842920" y="4967287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624512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499866" y="5624512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38068" y="5624512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8842920" y="5624512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Tipos de Datos y Dominios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96703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PK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49103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B300"/>
                </a:solidFill>
                <a:latin typeface="Roboto"/>
                <a:ea typeface="Roboto"/>
                <a:cs typeface="Roboto"/>
                <a:sym typeface="Roboto"/>
              </a:rPr>
              <a:t>PRIMARY KEY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3005137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Atributo Identificador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324326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Toda clase en una base de datos requiere un atributo único e irreducible que identifique a cada objeto de manera inequívoca. Este atributo garantiza la integridad referencial y permite establecer relaciones entre tablas como las que veremos a continuación.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Identidad del Registro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95275" y="10096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Casos de Estudio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1924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Implementación de atributos en Alumno, Docente y Materia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0400"/>
            <a:ext cx="5238750" cy="92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14859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Los atributos del alumno se centran en su trayectoria y estatus dentro de la institución: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85900"/>
            <a:ext cx="5238750" cy="52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95325" y="2095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62000" y="20955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Matrícula: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Clave (PK).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95325" y="2400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2400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Promedio: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Derivado (Calculado).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95325" y="2705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27051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Estatus: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Dominio finito {Activo, Baja, Egresado}.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3390900"/>
            <a:ext cx="4857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Cálculo de Atributo Derivado: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51795"/>
            <a:ext cx="4857750" cy="280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Clase Alumno: Perfil Académico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2193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381750" y="2781300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Atributos de Especialización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381750" y="30194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El docente requiere atributos que gestionen su carga horaria y su expertise académico: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0" y="2314575"/>
            <a:ext cx="3143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315075" y="3771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81750" y="37719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ID_Empleado: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Identificador único.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15075" y="40767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81750" y="40767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Grado_Academico: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{PhD, MSc, Lic}.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315075" y="4381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43815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Teléfonos: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Multivaluado.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15075" y="4686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0" y="46863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Sueldo: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con restricción de rango positivo.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Clase Docente: Gestión Laboral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49530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62000" y="571500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Clase Materia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62000" y="2395537"/>
            <a:ext cx="4800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Atributos de Contenido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762000" y="2633662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La clase Materia es una entidad de catálogo que define la estructura curricular. Sus atributos suelen ser estáticos pero críticos para la validación de inscripciones.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38528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Atributos Clave: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95325" y="4157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41576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Código_Materia (PK)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95325" y="4462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44624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Créditos (Entero)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95325" y="4767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62000" y="47672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Temario (Documento/Text)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95325" y="5072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62000" y="50720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Es_Obligatoria (Booleano)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47005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Análisis de frecuencia: La mayoría de los atributos en sistemas educativos son de tipo Simple (String/Int), mientras que los Multivaluados suelen normalizarse en tablas separadas en el diseño físico.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Distribución de Tipos de Atributos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3820715" y="2343150"/>
            <a:ext cx="4550568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¿Preguntas?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729037" y="3552825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Gracias por su atención sobre el modelado de atributos.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4095750" y="4333875"/>
            <a:ext cx="4000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SESIÓN DE CIERRE | FUNDAMENTOS DE BASES DE DATOS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
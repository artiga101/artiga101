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Outfit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C0283F-124A-4850-804B-2161B15C2B67}">
  <a:tblStyle styleId="{25C0283F-124A-4850-804B-2161B15C2B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11" Type="http://schemas.openxmlformats.org/officeDocument/2006/relationships/slide" Target="slides/slide5.xml"/><Relationship Id="rId22" Type="http://schemas.openxmlformats.org/officeDocument/2006/relationships/font" Target="fonts/PlusJakartaSans-boldItalic.fntdata"/><Relationship Id="rId10" Type="http://schemas.openxmlformats.org/officeDocument/2006/relationships/slide" Target="slides/slide4.xml"/><Relationship Id="rId21" Type="http://schemas.openxmlformats.org/officeDocument/2006/relationships/font" Target="fonts/PlusJakartaSans-italic.fntdata"/><Relationship Id="rId13" Type="http://schemas.openxmlformats.org/officeDocument/2006/relationships/slide" Target="slides/slide7.xml"/><Relationship Id="rId24" Type="http://schemas.openxmlformats.org/officeDocument/2006/relationships/font" Target="fonts/Outfit-bold.fntdata"/><Relationship Id="rId12" Type="http://schemas.openxmlformats.org/officeDocument/2006/relationships/slide" Target="slides/slide6.xml"/><Relationship Id="rId23" Type="http://schemas.openxmlformats.org/officeDocument/2006/relationships/font" Target="fonts/Outfi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usJakarta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85561" y="2536477"/>
            <a:ext cx="702087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Casos de Uso UML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52725" y="3727102"/>
            <a:ext cx="66865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Modelado de Requerimientos y Comportamiento del Sistema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4127"/>
            <a:ext cx="5334000" cy="2080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47057"/>
            <a:ext cx="5334000" cy="23544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¿Qué es un Caso de Uso?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14400" y="3127027"/>
            <a:ext cx="4880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563EB"/>
                </a:solidFill>
                <a:latin typeface="Outfit"/>
                <a:ea typeface="Outfit"/>
                <a:cs typeface="Outfit"/>
                <a:sym typeface="Outfit"/>
              </a:rPr>
              <a:t>Visión Funcional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3527077"/>
            <a:ext cx="46482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 una técnica para capturar requerimientos funcionales desde la perspectiva del usuario. Describe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qué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hace el sistema sin detallar procesos internos o técnicos.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29400" y="2989957"/>
            <a:ext cx="4880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563EB"/>
                </a:solidFill>
                <a:latin typeface="Outfit"/>
                <a:ea typeface="Outfit"/>
                <a:cs typeface="Outfit"/>
                <a:sym typeface="Outfit"/>
              </a:rPr>
              <a:t>Valor de Negocio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29400" y="3390007"/>
            <a:ext cx="46482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caso de uso representa una secuencia de acciones que producen un resultado de valor observable para un actor específico, facilitando la comunicación cliente-desarrollador.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192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El Sistema y sus Actores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2600325"/>
            <a:ext cx="45720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66775" y="2791866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Límite del Sistema: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 rectángulo que define qué está dentro del alcance del software y qué es externo.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3530947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Actores: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Entidades externas (humanos, hardware o sistemas) que interactúan con el sistema.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33450" y="4270027"/>
            <a:ext cx="49720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Asociaciones: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Líneas que conectan actores con las funciones que inician.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3472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7380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12890"/>
            <a:ext cx="2190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192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Ejemplo 1: Sistema de Cajero (ATM)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904232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Análisis del Diagrama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30428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un ATM, el actor "Cliente" inicia casos como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Retirar Efectivo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Consultar Saldo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El actor secundario "Banco" valida la transacción.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402431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Note cómo los casos de uso se agrupan dentro del límite del cajero, mientras los actores permanecen fuera.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34170"/>
            <a:ext cx="5314950" cy="3780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928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Ejemplo 2: Tienda en Línea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156" y="1928812"/>
            <a:ext cx="5208537" cy="379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6286500" y="2704207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Complejidad del Sistema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286500" y="3104257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este escenario, existen múltiples actores: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286500" y="3549997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Usuario: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Busca productos y compra.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286500" y="4014787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Administrador: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Gestiona el inventario.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286500" y="4479577"/>
            <a:ext cx="5334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Pasarela de Pago: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Actor externo que procesa el cobro.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762000" y="1886991"/>
            <a:ext cx="5000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Include y Extend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71500" y="1886991"/>
            <a:ext cx="4762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2849016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Include (Inclusión):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Una relación obligatoria. El caso de uso base requiere del incluido para completarse (ej: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incluido en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Realizar Pago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014787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Extend (Extensión):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Comportamiento opcional. Solo ocurre bajo condiciones específicas (ej: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Solicitar Recibo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 finalizar una compra).</a:t>
            </a:r>
            <a:endParaRPr/>
          </a:p>
        </p:txBody>
      </p:sp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9407"/>
            <a:ext cx="3524250" cy="284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99407"/>
            <a:ext cx="3524250" cy="284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399407"/>
            <a:ext cx="3524250" cy="284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Flujos de Eventos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68515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857250" y="3256657"/>
            <a:ext cx="31003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Flujo Básico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57250" y="3656707"/>
            <a:ext cx="29527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Llamado "Happy Path". Es el camino ideal donde no ocurren errores y se logra el objetivo principal del actor sin desviaciones.</a:t>
            </a:r>
            <a:endParaRPr/>
          </a:p>
        </p:txBody>
      </p:sp>
      <p:pic>
        <p:nvPicPr>
          <p:cNvPr descr="image.png" id="164" name="Google Shape;16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9625" y="268515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4619625" y="3256657"/>
            <a:ext cx="31003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Flujos Alternos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619625" y="3656707"/>
            <a:ext cx="2952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Caminos opcionales que también llevan al éxito (ej: el usuario decide pagar con tarjeta en lugar de PayPal).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2000" y="268515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382000" y="3256657"/>
            <a:ext cx="31003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Flujos de Excepción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382000" y="3656707"/>
            <a:ext cx="2952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Situaciones de error que impiden completar el objetivo (ej: "Saldo Insuficiente" o "Conexión Perdida").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Descripción Documental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283755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diagrama por sí solo es insuficiente. Cada elipse debe estar respaldada por un documento que detalle: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66775" y="3626197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Precondiciones: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Qué debe ser cierto antes de iniciar (ej: Usuario autenticado).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85825" y="4365277"/>
            <a:ext cx="5019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Secuencia: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Pasos numerados de interacción actor-sistema.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581775" y="3626197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Postcondiciones: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Estado final del sistema tras el éxito.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600825" y="4090987"/>
            <a:ext cx="5019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Reglas de Negocio: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Restricciones lógicas (ej: Máximo 3 intentos de PIN).</a:t>
            </a:r>
            <a:endParaRPr/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6905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0814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66905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13385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Plantilla de Documentación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21"/>
          <p:cNvGraphicFramePr/>
          <p:nvPr/>
        </p:nvGraphicFramePr>
        <p:xfrm>
          <a:off x="571500" y="24565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{25C0283F-124A-4850-804B-2161B15C2B67}</a:tableStyleId>
              </a:tblPr>
              <a:tblGrid>
                <a:gridCol w="1956500"/>
                <a:gridCol w="9092500"/>
              </a:tblGrid>
              <a:tr h="54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Campo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Descripción / Ejemplo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4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Nombre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Verbo + Sustantivo (ej: Procesar Pedido)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Actores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Principal: Cliente | Secundario: Almacén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4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Resumen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El actor compra productos y el sistema genera una factura.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Prioridad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Alta / Media / Baja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21"/>
          <p:cNvSpPr/>
          <p:nvPr/>
        </p:nvSpPr>
        <p:spPr>
          <a:xfrm>
            <a:off x="571500" y="3007072"/>
            <a:ext cx="195649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527994" y="3007072"/>
            <a:ext cx="909250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3560415"/>
            <a:ext cx="19564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527994" y="3560415"/>
            <a:ext cx="90925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71500" y="4099470"/>
            <a:ext cx="19564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2527994" y="4099470"/>
            <a:ext cx="90925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4638526"/>
            <a:ext cx="19564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2527994" y="4638526"/>
            <a:ext cx="90925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5177581"/>
            <a:ext cx="19564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2527994" y="5177581"/>
            <a:ext cx="90925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1816"/>
            <a:ext cx="5334000" cy="2864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07146"/>
            <a:ext cx="5334000" cy="283428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Ejemplo: "Retirar Efectivo"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914400" y="2734716"/>
            <a:ext cx="4880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563EB"/>
                </a:solidFill>
                <a:latin typeface="Outfit"/>
                <a:ea typeface="Outfit"/>
                <a:cs typeface="Outfit"/>
                <a:sym typeface="Outfit"/>
              </a:rPr>
              <a:t>Flujo Básico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629400" y="2750046"/>
            <a:ext cx="4880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563EB"/>
                </a:solidFill>
                <a:latin typeface="Outfit"/>
                <a:ea typeface="Outfit"/>
                <a:cs typeface="Outfit"/>
                <a:sym typeface="Outfit"/>
              </a:rPr>
              <a:t>Flujo Alterno/Excepción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629400" y="3131046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E1: PIN Incorrecto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 sistema informa error y pide reintento. Si falla 3 veces, bloquea tarjeta.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629400" y="4014787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A1: Sin Recibo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 cliente elige no imprimir recibo; el sistema finaliza sin impresión.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1181100" y="3114764"/>
            <a:ext cx="114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295400" y="3115716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Cliente inserta tarjeta.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143000" y="3389054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295400" y="3390007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Sistema solicita el PIN.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143000" y="3663344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295400" y="3664297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Cliente ingresa el PIN.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143000" y="3937635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1295400" y="3938587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Sistema valida y pide monto.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143000" y="4211925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295400" y="4212877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Cliente ingresa $100.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1143000" y="4486215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295400" y="4487167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Sistema entrega dinero y recibo.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2227"/>
            <a:ext cx="3524250" cy="2003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822227"/>
            <a:ext cx="3524250" cy="2003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822227"/>
            <a:ext cx="3524250" cy="200397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¿Por qué usar Casos de Uso?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857250" y="3107977"/>
            <a:ext cx="31003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Claridad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857250" y="3508027"/>
            <a:ext cx="2952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 ambigüedades en lo que el usuario espera que haga el software.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4619625" y="3107977"/>
            <a:ext cx="31003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Pruebas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4619625" y="3508027"/>
            <a:ext cx="2952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Facilita la creación de planes de prueba (QA) basados en los flujos descritos.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382000" y="3107977"/>
            <a:ext cx="31003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Alcance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8382000" y="3508027"/>
            <a:ext cx="2952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Ayuda a evitar el "Scope Creep" al definir claramente los límites del sistema.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2060227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2935605" y="3012727"/>
            <a:ext cx="632079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¿Preguntas?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3086100" y="4203352"/>
            <a:ext cx="6019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Gracias por su atención en este análisis técnico de UML.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
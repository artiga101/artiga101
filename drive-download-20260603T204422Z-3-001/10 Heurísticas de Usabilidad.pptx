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Open Sans SemiBold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D9FC178-602D-4EF1-AB74-EFF4EF563E8E}">
  <a:tblStyle styleId="{AD9FC178-602D-4EF1-AB74-EFF4EF563E8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penSansSemiBol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SemiBold-italic.fntdata"/><Relationship Id="rId25" Type="http://schemas.openxmlformats.org/officeDocument/2006/relationships/font" Target="fonts/OpenSansSemiBold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OpenSa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Las 10 Heurísticas de Jakob Nielsen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2343150"/>
            <a:ext cx="952500" cy="571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6860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Principios de Diseño para una Usabilidad de Clase Mundial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33747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Optimizando la Experiencia del Usuario (UX) desde 1994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57150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95275" y="152400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El Pilar del Diseño Centrado en el Usuario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2085975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Jakob Nielsen formuló estos principios como una "regla general" para evaluar interfaces. No son reglas rígidas, sino guías para asegurar que el sistema sea fácil de usar y aprender.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4500"/>
            <a:ext cx="523875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14700"/>
            <a:ext cx="52387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¿QUÉ ES UNA EVALUACIÓN HEURÍSTICA?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2095500"/>
            <a:ext cx="47005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9C12"/>
                </a:solidFill>
                <a:latin typeface="Montserrat"/>
                <a:ea typeface="Montserrat"/>
                <a:cs typeface="Montserrat"/>
                <a:sym typeface="Montserrat"/>
              </a:rPr>
              <a:t>Inspección Experta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2466975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 método de inspección de usabilidad donde expertos examinan la interfaz y juzgan su cumplimiento con principios establecidos (heurísticas).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190500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 diferencia de las pruebas con usuarios, la evaluación heurística depende del criterio de especialistas para predecir fallos de diseño antes de que lleguen al usuario final.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381125" y="3876675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Eficiente en costo-beneficio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381125" y="441960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Resultados rápidos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381125" y="4962525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Identifica problemas críticos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14700"/>
            <a:ext cx="5238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9147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4577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50006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5381625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314450"/>
            <a:ext cx="5381625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VISIBILIDAD Y MUNDO REAL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904875" y="2419350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#01 Visibilidad del Sistema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04875" y="283845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El sistema debe mantener informado al usuario sobre lo que ocurre mediante retroalimentación en tiempo real.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04875" y="3848100"/>
            <a:ext cx="4714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Barras de progreso, estados de carga.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572250" y="2419350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#02 Mundo Real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572250" y="283845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El sistema debe hablar el idioma del usuario, con conceptos familiares en lugar de términos técnicos.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572250" y="3543300"/>
            <a:ext cx="4714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Iconos de papelera, carrito de compras.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1733550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1733550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24112"/>
            <a:ext cx="52387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LIBERTAD Y CONSISTENCIA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251460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#03 Control y Libertad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7336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usuarios necesitan una "salida de emergencia" clara cuando eligen funciones por error. Deben poder deshacer y rehacer acciones.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3790950"/>
            <a:ext cx="5238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9528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#04 Consistencia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41719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usuarios no deben dudar si diferentes palabras o acciones significan lo mismo. Sigue las convenciones de la plataforma.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15125" y="2757487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9C12"/>
                </a:solidFill>
                <a:latin typeface="Montserrat"/>
                <a:ea typeface="Montserrat"/>
                <a:cs typeface="Montserrat"/>
                <a:sym typeface="Montserrat"/>
              </a:rPr>
              <a:t>Punto de Falla Común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15125" y="3176587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Interfaces que fuerzan al usuario a completar un flujo largo sin opción de cancelar o volver atrás (H3).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15125" y="4233862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Botones que cambian de lugar o de color según la página (H4).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54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PREVENCIÓN Y RECONOCIMIENTO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954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381750" y="27146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#05 Prevención de Errores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29337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Es mejor un diseño que prevenga problemas antes de que ocurran. Elimina condiciones propensas a errores.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381750" y="37528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#06 Reconocer vs Recordar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81750" y="39719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Minimiza la carga de memoria haciendo visibles objetos y acciones. El usuario no debe recordar información de una parte a otra.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571500"/>
            <a:ext cx="500062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FLEXIBILIDAD Y MINIMALISMO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57150" cy="7239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289560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#07 Eficiencia de Uso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31146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aceleradores (atajos) para usuarios expertos mejoran la velocidad sin estorbar al novato.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393382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#08 Diseño Minimalista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41529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diálogos no deben contener información irrelevante. Cada unidad extra compite con la información necesaria.</a:t>
            </a:r>
            <a:endParaRPr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3700" y="1038462"/>
            <a:ext cx="7235400" cy="47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ERRORES Y DOCUMENTACIÓN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27146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#09 Recuperación de Errores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29337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mensajes de error deben ser en lenguaje simple, indicar el problema exacto y sugerir una solución constructiva.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40576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#10 Ayuda y Documentación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42767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Aunque el sistema sea intuitivo, la ayuda debe ser fácil de buscar, enfocada en la tarea y con pasos concretos.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95475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ESCALA DE SEVERIDAD DE NIELSEN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2305050"/>
            <a:ext cx="11049000" cy="29908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21"/>
          <p:cNvGraphicFramePr/>
          <p:nvPr/>
        </p:nvGraphicFramePr>
        <p:xfrm>
          <a:off x="571500" y="2305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{AD9FC178-602D-4EF1-AB74-EFF4EF563E8E}</a:tableStyleId>
              </a:tblPr>
              <a:tblGrid>
                <a:gridCol w="1265050"/>
                <a:gridCol w="2314725"/>
                <a:gridCol w="5584925"/>
                <a:gridCol w="1884300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Nivel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Clasificación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Prioridad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Catástrofe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Imperativo corregirlo antes del lanzamiento.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Crítica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Dificultad alta para completar tareas.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Problema leve, prioridad baja de corrección.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Baja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748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Cosmético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Solo se arregla si sobra tiempo.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Muy Baja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1"/>
          <p:cNvSpPr/>
          <p:nvPr/>
        </p:nvSpPr>
        <p:spPr>
          <a:xfrm>
            <a:off x="571500" y="3538537"/>
            <a:ext cx="12650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836539" y="3538537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151262" y="3538537"/>
            <a:ext cx="5584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9736187" y="3538537"/>
            <a:ext cx="1884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119562"/>
            <a:ext cx="12650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1836539" y="411956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151262" y="4119562"/>
            <a:ext cx="5584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9736187" y="4119562"/>
            <a:ext cx="1884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4700587"/>
            <a:ext cx="12650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836539" y="4700587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151262" y="4700587"/>
            <a:ext cx="5584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9736187" y="4700587"/>
            <a:ext cx="1884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5281612"/>
            <a:ext cx="12650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836539" y="528161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151262" y="5281612"/>
            <a:ext cx="5584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9736187" y="5281612"/>
            <a:ext cx="1884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7039" y="3143250"/>
            <a:ext cx="10477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7039" y="3724275"/>
            <a:ext cx="7048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7039" y="4305300"/>
            <a:ext cx="7239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7039" y="4886325"/>
            <a:ext cx="10001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METODOLOGÍA DE EVALUACIÓN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71500" y="4120604"/>
            <a:ext cx="11049000" cy="381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1672530" y="34538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9C1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10733" y="387295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1. Alcance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4196804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Definir objetivos y áreas a evaluar.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4545210" y="34538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9C1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3383413" y="387295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2. Expertos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3444180" y="4196804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Seleccionar entre 3 y 5 evaluadores.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417891" y="34538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9C1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6256094" y="387295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3. Inspección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316860" y="4196804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Evaluación independiente por cada experto.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10290571" y="34538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9C1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9128774" y="387295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4. Informe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9189541" y="4196804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Consolidar hallazgos y severidad.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CHECKLIST DE USABILIDAD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000125" y="271462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¿El usuario sabe qué está pasando en todo momento?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000125" y="32575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¿Los iconos son universales o familiares?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000125" y="380047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¿Hay un botón de "Cancelar" o "Deshacer"?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000125" y="43434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¿Se previene la entrada de datos erróneos?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810375" y="271462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¿La interfaz está libre de distracciones visuales?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810375" y="32575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¿Los atajos de teclado funcionan para expertos?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810375" y="380047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¿Los mensajes de error explican cómo solucionar?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810375" y="43434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¿La documentación es fácil de encontrar?</a:t>
            </a:r>
            <a:endParaRPr/>
          </a:p>
        </p:txBody>
      </p:sp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27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56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385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815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527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2956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8385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38150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295275" y="571500"/>
            <a:ext cx="1160145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19240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Transformando interfaces en experiencias memorables.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143500" y="2670720"/>
            <a:ext cx="1905000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308982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Jakob Nielsen - 10 Heurísticas de Usabilidad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223569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302046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380523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30109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30109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71500" y="3795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71500" y="3795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45804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45804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4" name="Google Shape;2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51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66875" y="237857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https://media.istockphoto.com/id/2223334525/vector/folder-deletion.jpg?s=612x612&amp;w=0&amp;k=20&amp;c=ULxXjxMzwzaDbcxX_UvCYldhBKsBcRGL3omkZG5SbrM=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262428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www.istockphoto.com</a:t>
            </a:r>
            <a:endParaRPr/>
          </a:p>
        </p:txBody>
      </p:sp>
      <p:pic>
        <p:nvPicPr>
          <p:cNvPr descr="image.png" id="287" name="Google Shape;28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698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666875" y="31633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https://cdn.dribbble.com/userupload/20495158/file/original-9d88089050c610d25a644e005ddd2c68?resize=400x0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66875" y="34090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dribbble.com</a:t>
            </a:r>
            <a:endParaRPr/>
          </a:p>
        </p:txBody>
      </p:sp>
      <p:pic>
        <p:nvPicPr>
          <p:cNvPr descr="image.png" id="290" name="Google Shape;29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546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666875" y="39481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https://www.justinmind.com/wp-content/uploads/2024/10/progress-bar-ui-heading.png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1666875" y="41938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www.justinmind.com</a:t>
            </a:r>
            <a:endParaRPr/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394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1666875" y="473288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https://saaslandingpage.com/wp-content/uploads/2023/10/11-pandadoc@2x-680x510.png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666875" y="497859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saaslandingpage.com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